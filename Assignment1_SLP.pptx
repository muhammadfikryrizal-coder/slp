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Perkenalan: tugas membangun Single Layer Perceptron untuk klasifikasi biner Iris Setosa vs Versicolor, dikerjakan dua cara (Google Sheets dan Python) dengan hasil yang identik.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Akurasi training naik dari 52.50% ke 98.75%.  Akurasi validasi naik dari 50.00% ke 100.00% pada epoch 5.  Mulai epoch 4 seluruh data validasi terklasifikasi benar.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Akurasi training naik dari 52.50% ke 98.75%.  Akurasi validasi naik dari 50.00% ke 100.00% pada epoch 5.  Mulai epoch 4 seluruh data validasi terklasifikasi benar. Angka identik dengan hasil Google Sheets.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Loss training turun tajam dari 0.4499 ke 0.0127.  Loss validasi turun konsisten dari 0.3290 ke 0.0816.  Kedua kurva menurun bersama, jadi tidak ada indikasi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Loss training turun tajam dari 0.4499 ke 0.0127.  Loss validasi turun konsisten dari 0.3290 ke 0.0816.  Kedua kurva menurun bersama, jadi tidak ada indikasi overfitting. Angka identik dengan hasil Google Sheets.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Pastikan Google Sheets sudah dibagikan dengan akses 'Anyone with the link - Viewer' dan repositori GitHub bersifat public sebelum diunggah ke Simaster.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Referensi utama: Rosenblatt untuk konsep perceptron, Fisher/UCI untuk dataset Iris, Haykin dan Goodfellow untuk penurunan rumus gradient descent.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12191695" cy="4572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43000"/>
            <a:ext cx="10332720" cy="365760"/>
          </a:xfrm>
          <a:prstGeom prst="rect">
            <a:avLst/>
          </a:prstGeom>
          <a:noFill/>
        </p:spPr>
        <p:txBody>
          <a:bodyPr wrap="square" lIns="0" rIns="0" tIns="0" bIns="0">
            <a:spAutoFit/>
          </a:bodyPr>
          <a:lstStyle/>
          <a:p>
            <a:pPr algn="l">
              <a:lnSpc>
                <a:spcPct val="110000"/>
              </a:lnSpc>
            </a:pPr>
            <a:r>
              <a:rPr sz="1500" b="1">
                <a:solidFill>
                  <a:srgbClr val="8AB4F8"/>
                </a:solidFill>
                <a:latin typeface="Calibri"/>
              </a:rPr>
              <a:t>ASSIGNMENT 1</a:t>
            </a:r>
          </a:p>
        </p:txBody>
      </p:sp>
      <p:sp>
        <p:nvSpPr>
          <p:cNvPr id="5" name="TextBox 4"/>
          <p:cNvSpPr txBox="1"/>
          <p:nvPr/>
        </p:nvSpPr>
        <p:spPr>
          <a:xfrm>
            <a:off x="914400" y="1572768"/>
            <a:ext cx="10332720" cy="822960"/>
          </a:xfrm>
          <a:prstGeom prst="rect">
            <a:avLst/>
          </a:prstGeom>
          <a:noFill/>
        </p:spPr>
        <p:txBody>
          <a:bodyPr wrap="square" lIns="0" rIns="0" tIns="0" bIns="0">
            <a:spAutoFit/>
          </a:bodyPr>
          <a:lstStyle/>
          <a:p>
            <a:pPr algn="l">
              <a:lnSpc>
                <a:spcPct val="110000"/>
              </a:lnSpc>
            </a:pPr>
            <a:r>
              <a:rPr sz="4200" b="1">
                <a:solidFill>
                  <a:srgbClr val="FFFFFF"/>
                </a:solidFill>
                <a:latin typeface="Calibri"/>
              </a:rPr>
              <a:t>Single Layer Perceptron</a:t>
            </a:r>
          </a:p>
        </p:txBody>
      </p:sp>
      <p:sp>
        <p:nvSpPr>
          <p:cNvPr id="6" name="TextBox 5"/>
          <p:cNvSpPr txBox="1"/>
          <p:nvPr/>
        </p:nvSpPr>
        <p:spPr>
          <a:xfrm>
            <a:off x="914400" y="2670048"/>
            <a:ext cx="10332720" cy="457200"/>
          </a:xfrm>
          <a:prstGeom prst="rect">
            <a:avLst/>
          </a:prstGeom>
          <a:noFill/>
        </p:spPr>
        <p:txBody>
          <a:bodyPr wrap="square" lIns="0" rIns="0" tIns="0" bIns="0">
            <a:spAutoFit/>
          </a:bodyPr>
          <a:lstStyle/>
          <a:p>
            <a:pPr algn="l">
              <a:lnSpc>
                <a:spcPct val="110000"/>
              </a:lnSpc>
            </a:pPr>
            <a:r>
              <a:rPr sz="1900" b="0">
                <a:solidFill>
                  <a:srgbClr val="C7D6EC"/>
                </a:solidFill>
                <a:latin typeface="Calibri"/>
              </a:rPr>
              <a:t>Klasifikasi Biner Data Iris  -  Setosa (0) vs Versicolor (1)</a:t>
            </a:r>
          </a:p>
        </p:txBody>
      </p:sp>
      <p:sp>
        <p:nvSpPr>
          <p:cNvPr id="7" name="TextBox 6"/>
          <p:cNvSpPr txBox="1"/>
          <p:nvPr/>
        </p:nvSpPr>
        <p:spPr>
          <a:xfrm>
            <a:off x="914400" y="3886200"/>
            <a:ext cx="5029200" cy="274320"/>
          </a:xfrm>
          <a:prstGeom prst="rect">
            <a:avLst/>
          </a:prstGeom>
          <a:noFill/>
        </p:spPr>
        <p:txBody>
          <a:bodyPr wrap="square" lIns="0" rIns="0" tIns="0" bIns="0">
            <a:spAutoFit/>
          </a:bodyPr>
          <a:lstStyle/>
          <a:p>
            <a:pPr algn="l">
              <a:lnSpc>
                <a:spcPct val="110000"/>
              </a:lnSpc>
            </a:pPr>
            <a:r>
              <a:rPr sz="1100" b="1">
                <a:solidFill>
                  <a:srgbClr val="8AB4F8"/>
                </a:solidFill>
                <a:latin typeface="Calibri"/>
              </a:rPr>
              <a:t>NAMA</a:t>
            </a:r>
          </a:p>
        </p:txBody>
      </p:sp>
      <p:sp>
        <p:nvSpPr>
          <p:cNvPr id="8" name="TextBox 7"/>
          <p:cNvSpPr txBox="1"/>
          <p:nvPr/>
        </p:nvSpPr>
        <p:spPr>
          <a:xfrm>
            <a:off x="914400" y="4206240"/>
            <a:ext cx="5029200" cy="457200"/>
          </a:xfrm>
          <a:prstGeom prst="rect">
            <a:avLst/>
          </a:prstGeom>
          <a:noFill/>
        </p:spPr>
        <p:txBody>
          <a:bodyPr wrap="square" lIns="0" rIns="0" tIns="0" bIns="0">
            <a:spAutoFit/>
          </a:bodyPr>
          <a:lstStyle/>
          <a:p>
            <a:pPr algn="l">
              <a:lnSpc>
                <a:spcPct val="110000"/>
              </a:lnSpc>
            </a:pPr>
            <a:r>
              <a:rPr sz="2200" b="1">
                <a:solidFill>
                  <a:srgbClr val="FFFFFF"/>
                </a:solidFill>
                <a:latin typeface="Calibri"/>
              </a:rPr>
              <a:t>Muhammad Fikry Rizal</a:t>
            </a:r>
          </a:p>
        </p:txBody>
      </p:sp>
      <p:sp>
        <p:nvSpPr>
          <p:cNvPr id="9" name="TextBox 8"/>
          <p:cNvSpPr txBox="1"/>
          <p:nvPr/>
        </p:nvSpPr>
        <p:spPr>
          <a:xfrm>
            <a:off x="6583680" y="3886200"/>
            <a:ext cx="4572000" cy="274320"/>
          </a:xfrm>
          <a:prstGeom prst="rect">
            <a:avLst/>
          </a:prstGeom>
          <a:noFill/>
        </p:spPr>
        <p:txBody>
          <a:bodyPr wrap="square" lIns="0" rIns="0" tIns="0" bIns="0">
            <a:spAutoFit/>
          </a:bodyPr>
          <a:lstStyle/>
          <a:p>
            <a:pPr algn="l">
              <a:lnSpc>
                <a:spcPct val="110000"/>
              </a:lnSpc>
            </a:pPr>
            <a:r>
              <a:rPr sz="1100" b="1">
                <a:solidFill>
                  <a:srgbClr val="8AB4F8"/>
                </a:solidFill>
                <a:latin typeface="Calibri"/>
              </a:rPr>
              <a:t>NOMOR MAHASISWA</a:t>
            </a:r>
          </a:p>
        </p:txBody>
      </p:sp>
      <p:sp>
        <p:nvSpPr>
          <p:cNvPr id="10" name="TextBox 9"/>
          <p:cNvSpPr txBox="1"/>
          <p:nvPr/>
        </p:nvSpPr>
        <p:spPr>
          <a:xfrm>
            <a:off x="6583680" y="4206240"/>
            <a:ext cx="4572000" cy="457200"/>
          </a:xfrm>
          <a:prstGeom prst="rect">
            <a:avLst/>
          </a:prstGeom>
          <a:noFill/>
        </p:spPr>
        <p:txBody>
          <a:bodyPr wrap="square" lIns="0" rIns="0" tIns="0" bIns="0">
            <a:spAutoFit/>
          </a:bodyPr>
          <a:lstStyle/>
          <a:p>
            <a:pPr algn="l">
              <a:lnSpc>
                <a:spcPct val="110000"/>
              </a:lnSpc>
            </a:pPr>
            <a:r>
              <a:rPr sz="2200" b="1">
                <a:solidFill>
                  <a:srgbClr val="FFFFFF"/>
                </a:solidFill>
                <a:latin typeface="Calibri"/>
              </a:rPr>
              <a:t>25/573936/PPA/07229</a:t>
            </a:r>
          </a:p>
        </p:txBody>
      </p:sp>
      <p:sp>
        <p:nvSpPr>
          <p:cNvPr id="11" name="TextBox 10"/>
          <p:cNvSpPr txBox="1"/>
          <p:nvPr/>
        </p:nvSpPr>
        <p:spPr>
          <a:xfrm>
            <a:off x="914400" y="5166360"/>
            <a:ext cx="10332720" cy="822960"/>
          </a:xfrm>
          <a:prstGeom prst="rect">
            <a:avLst/>
          </a:prstGeom>
          <a:noFill/>
        </p:spPr>
        <p:txBody>
          <a:bodyPr wrap="square" lIns="0" rIns="0" tIns="0" bIns="0">
            <a:spAutoFit/>
          </a:bodyPr>
          <a:lstStyle/>
          <a:p>
            <a:pPr algn="l">
              <a:lnSpc>
                <a:spcPct val="135000"/>
              </a:lnSpc>
            </a:pPr>
            <a:r>
              <a:rPr sz="1300" b="0">
                <a:solidFill>
                  <a:srgbClr val="A8BCD6"/>
                </a:solidFill>
                <a:latin typeface="Calibri"/>
              </a:rPr>
              <a:t>Pembelajaran Mesin Multimedia</a:t>
            </a:r>
          </a:p>
          <a:p>
            <a:pPr algn="l">
              <a:lnSpc>
                <a:spcPct val="135000"/>
              </a:lnSpc>
            </a:pPr>
            <a:r>
              <a:rPr sz="1300" b="0">
                <a:solidFill>
                  <a:srgbClr val="A8BCD6"/>
                </a:solidFill>
                <a:latin typeface="Calibri"/>
              </a:rPr>
              <a:t>Master Kecerdasan Artifisial/UGM   |   18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64240" cy="548640"/>
          </a:xfrm>
          <a:prstGeom prst="rect">
            <a:avLst/>
          </a:prstGeom>
          <a:noFill/>
        </p:spPr>
        <p:txBody>
          <a:bodyPr wrap="square" lIns="0" rIns="0" tIns="0" bIns="0">
            <a:spAutoFit/>
          </a:bodyPr>
          <a:lstStyle/>
          <a:p>
            <a:pPr algn="l">
              <a:lnSpc>
                <a:spcPct val="110000"/>
              </a:lnSpc>
            </a:pPr>
            <a:r>
              <a:rPr sz="2700" b="1">
                <a:solidFill>
                  <a:srgbClr val="0B2545"/>
                </a:solidFill>
                <a:latin typeface="Calibri"/>
              </a:rPr>
              <a:t>Accuracy Chart - dari Google Sheets</a:t>
            </a:r>
          </a:p>
        </p:txBody>
      </p:sp>
      <p:sp>
        <p:nvSpPr>
          <p:cNvPr id="4" name="TextBox 3"/>
          <p:cNvSpPr txBox="1"/>
          <p:nvPr/>
        </p:nvSpPr>
        <p:spPr>
          <a:xfrm>
            <a:off x="566928" y="914400"/>
            <a:ext cx="11064240" cy="365760"/>
          </a:xfrm>
          <a:prstGeom prst="rect">
            <a:avLst/>
          </a:prstGeom>
          <a:noFill/>
        </p:spPr>
        <p:txBody>
          <a:bodyPr wrap="square" lIns="0" rIns="0" tIns="0" bIns="0">
            <a:spAutoFit/>
          </a:bodyPr>
          <a:lstStyle/>
          <a:p>
            <a:pPr algn="l">
              <a:lnSpc>
                <a:spcPct val="110000"/>
              </a:lnSpc>
            </a:pPr>
            <a:r>
              <a:rPr sz="1300" b="0">
                <a:solidFill>
                  <a:srgbClr val="5F6368"/>
                </a:solidFill>
                <a:latin typeface="Calibri"/>
              </a:rPr>
              <a:t>Learning rate 0.1  |  5 epoch  |  bobot awal 0.5  |  80 data training, 20 data validation</a:t>
            </a:r>
          </a:p>
        </p:txBody>
      </p:sp>
      <p:pic>
        <p:nvPicPr>
          <p:cNvPr id="5" name="Picture 4" descr="chart_accuracy_gsheet.png"/>
          <p:cNvPicPr>
            <a:picLocks noChangeAspect="1"/>
          </p:cNvPicPr>
          <p:nvPr/>
        </p:nvPicPr>
        <p:blipFill>
          <a:blip r:embed="rId2"/>
          <a:stretch>
            <a:fillRect/>
          </a:stretch>
        </p:blipFill>
        <p:spPr>
          <a:xfrm>
            <a:off x="569467" y="1325880"/>
            <a:ext cx="7721600" cy="4343400"/>
          </a:xfrm>
          <a:prstGeom prst="rect">
            <a:avLst/>
          </a:prstGeom>
        </p:spPr>
      </p:pic>
      <p:sp>
        <p:nvSpPr>
          <p:cNvPr id="6" name="TextBox 5"/>
          <p:cNvSpPr txBox="1"/>
          <p:nvPr/>
        </p:nvSpPr>
        <p:spPr>
          <a:xfrm>
            <a:off x="566928" y="5806440"/>
            <a:ext cx="7726679" cy="411480"/>
          </a:xfrm>
          <a:prstGeom prst="rect">
            <a:avLst/>
          </a:prstGeom>
          <a:noFill/>
        </p:spPr>
        <p:txBody>
          <a:bodyPr wrap="square" lIns="0" rIns="0" tIns="0" bIns="0">
            <a:spAutoFit/>
          </a:bodyPr>
          <a:lstStyle/>
          <a:p>
            <a:pPr algn="l">
              <a:lnSpc>
                <a:spcPct val="125000"/>
              </a:lnSpc>
            </a:pPr>
            <a:r>
              <a:rPr sz="1000" b="0">
                <a:solidFill>
                  <a:srgbClr val="5F6368"/>
                </a:solidFill>
                <a:latin typeface="Calibri"/>
              </a:rPr>
              <a:t>Sumber: sheet SLP-Training dan SLP-Validation, kolom Accuracy = AVERAGE(S:S) untuk tiap blok epoch.</a:t>
            </a:r>
          </a:p>
        </p:txBody>
      </p:sp>
      <p:sp>
        <p:nvSpPr>
          <p:cNvPr id="7" name="TextBox 6"/>
          <p:cNvSpPr txBox="1"/>
          <p:nvPr/>
        </p:nvSpPr>
        <p:spPr>
          <a:xfrm>
            <a:off x="8549640" y="1371600"/>
            <a:ext cx="3108960" cy="274320"/>
          </a:xfrm>
          <a:prstGeom prst="rect">
            <a:avLst/>
          </a:prstGeom>
          <a:noFill/>
        </p:spPr>
        <p:txBody>
          <a:bodyPr wrap="square" lIns="0" rIns="0" tIns="0" bIns="0">
            <a:spAutoFit/>
          </a:bodyPr>
          <a:lstStyle/>
          <a:p>
            <a:pPr algn="l">
              <a:lnSpc>
                <a:spcPct val="110000"/>
              </a:lnSpc>
            </a:pPr>
            <a:r>
              <a:rPr sz="1100" b="1">
                <a:solidFill>
                  <a:srgbClr val="1A73E8"/>
                </a:solidFill>
                <a:latin typeface="Calibri"/>
              </a:rPr>
              <a:t>NILAI PER EPOCH</a:t>
            </a:r>
          </a:p>
        </p:txBody>
      </p:sp>
      <p:graphicFrame>
        <p:nvGraphicFramePr>
          <p:cNvPr id="8" name="Table 7"/>
          <p:cNvGraphicFramePr>
            <a:graphicFrameLocks noGrp="1"/>
          </p:cNvGraphicFramePr>
          <p:nvPr/>
        </p:nvGraphicFramePr>
        <p:xfrm>
          <a:off x="8549640" y="1737360"/>
          <a:ext cx="3108960" cy="1920240"/>
        </p:xfrm>
        <a:graphic>
          <a:graphicData uri="http://schemas.openxmlformats.org/drawingml/2006/table">
            <a:tbl>
              <a:tblPr firstRow="1" bandRow="1">
                <a:tableStyleId>{5C22544A-7EE6-4342-B048-85BDC9FD1C3A}</a:tableStyleId>
              </a:tblPr>
              <a:tblGrid>
                <a:gridCol w="829056"/>
                <a:gridCol w="1139952"/>
                <a:gridCol w="1139952"/>
              </a:tblGrid>
              <a:tr h="320040">
                <a:tc>
                  <a:txBody>
                    <a:bodyPr/>
                    <a:lstStyle/>
                    <a:p>
                      <a:pPr algn="ctr"/>
                      <a:r>
                        <a:rPr sz="1100" b="1">
                          <a:solidFill>
                            <a:srgbClr val="FFFFFF"/>
                          </a:solidFill>
                        </a:rPr>
                        <a:t>Epoch</a:t>
                      </a:r>
                    </a:p>
                  </a:txBody>
                  <a:tcPr anchor="ctr">
                    <a:solidFill>
                      <a:srgbClr val="0B2545"/>
                    </a:solidFill>
                  </a:tcPr>
                </a:tc>
                <a:tc>
                  <a:txBody>
                    <a:bodyPr/>
                    <a:lstStyle/>
                    <a:p>
                      <a:pPr algn="ctr"/>
                      <a:r>
                        <a:rPr sz="1100" b="1">
                          <a:solidFill>
                            <a:srgbClr val="FFFFFF"/>
                          </a:solidFill>
                        </a:rPr>
                        <a:t>Train</a:t>
                      </a:r>
                    </a:p>
                  </a:txBody>
                  <a:tcPr anchor="ctr">
                    <a:solidFill>
                      <a:srgbClr val="0B2545"/>
                    </a:solidFill>
                  </a:tcPr>
                </a:tc>
                <a:tc>
                  <a:txBody>
                    <a:bodyPr/>
                    <a:lstStyle/>
                    <a:p>
                      <a:pPr algn="ctr"/>
                      <a:r>
                        <a:rPr sz="1100" b="1">
                          <a:solidFill>
                            <a:srgbClr val="FFFFFF"/>
                          </a:solidFill>
                        </a:rPr>
                        <a:t>Validation</a:t>
                      </a:r>
                    </a:p>
                  </a:txBody>
                  <a:tcPr anchor="ctr">
                    <a:solidFill>
                      <a:srgbClr val="0B2545"/>
                    </a:solidFill>
                  </a:tcPr>
                </a:tc>
              </a:tr>
              <a:tr h="320040">
                <a:tc>
                  <a:txBody>
                    <a:bodyPr/>
                    <a:lstStyle/>
                    <a:p>
                      <a:pPr algn="ctr"/>
                      <a:r>
                        <a:rPr sz="1000">
                          <a:solidFill>
                            <a:srgbClr val="0B2545"/>
                          </a:solidFill>
                        </a:rPr>
                        <a:t>1</a:t>
                      </a:r>
                    </a:p>
                  </a:txBody>
                  <a:tcPr anchor="ctr">
                    <a:solidFill>
                      <a:srgbClr val="FFFFFF"/>
                    </a:solidFill>
                  </a:tcPr>
                </a:tc>
                <a:tc>
                  <a:txBody>
                    <a:bodyPr/>
                    <a:lstStyle/>
                    <a:p>
                      <a:pPr algn="ctr"/>
                      <a:r>
                        <a:rPr sz="1000">
                          <a:solidFill>
                            <a:srgbClr val="0B2545"/>
                          </a:solidFill>
                        </a:rPr>
                        <a:t>52.50%</a:t>
                      </a:r>
                    </a:p>
                  </a:txBody>
                  <a:tcPr anchor="ctr">
                    <a:solidFill>
                      <a:srgbClr val="FFFFFF"/>
                    </a:solidFill>
                  </a:tcPr>
                </a:tc>
                <a:tc>
                  <a:txBody>
                    <a:bodyPr/>
                    <a:lstStyle/>
                    <a:p>
                      <a:pPr algn="ctr"/>
                      <a:r>
                        <a:rPr sz="1000">
                          <a:solidFill>
                            <a:srgbClr val="0B2545"/>
                          </a:solidFill>
                        </a:rPr>
                        <a:t>50.00%</a:t>
                      </a:r>
                    </a:p>
                  </a:txBody>
                  <a:tcPr anchor="ctr">
                    <a:solidFill>
                      <a:srgbClr val="FFFFFF"/>
                    </a:solidFill>
                  </a:tcPr>
                </a:tc>
              </a:tr>
              <a:tr h="320040">
                <a:tc>
                  <a:txBody>
                    <a:bodyPr/>
                    <a:lstStyle/>
                    <a:p>
                      <a:pPr algn="ctr"/>
                      <a:r>
                        <a:rPr sz="1000">
                          <a:solidFill>
                            <a:srgbClr val="0B2545"/>
                          </a:solidFill>
                        </a:rPr>
                        <a:t>2</a:t>
                      </a:r>
                    </a:p>
                  </a:txBody>
                  <a:tcPr anchor="ctr">
                    <a:solidFill>
                      <a:srgbClr val="F1F5F9"/>
                    </a:solidFill>
                  </a:tcPr>
                </a:tc>
                <a:tc>
                  <a:txBody>
                    <a:bodyPr/>
                    <a:lstStyle/>
                    <a:p>
                      <a:pPr algn="ctr"/>
                      <a:r>
                        <a:rPr sz="1000">
                          <a:solidFill>
                            <a:srgbClr val="0B2545"/>
                          </a:solidFill>
                        </a:rPr>
                        <a:t>95.00%</a:t>
                      </a:r>
                    </a:p>
                  </a:txBody>
                  <a:tcPr anchor="ctr">
                    <a:solidFill>
                      <a:srgbClr val="F1F5F9"/>
                    </a:solidFill>
                  </a:tcPr>
                </a:tc>
                <a:tc>
                  <a:txBody>
                    <a:bodyPr/>
                    <a:lstStyle/>
                    <a:p>
                      <a:pPr algn="ctr"/>
                      <a:r>
                        <a:rPr sz="1000">
                          <a:solidFill>
                            <a:srgbClr val="0B2545"/>
                          </a:solidFill>
                        </a:rPr>
                        <a:t>50.00%</a:t>
                      </a:r>
                    </a:p>
                  </a:txBody>
                  <a:tcPr anchor="ctr">
                    <a:solidFill>
                      <a:srgbClr val="F1F5F9"/>
                    </a:solidFill>
                  </a:tcPr>
                </a:tc>
              </a:tr>
              <a:tr h="320040">
                <a:tc>
                  <a:txBody>
                    <a:bodyPr/>
                    <a:lstStyle/>
                    <a:p>
                      <a:pPr algn="ctr"/>
                      <a:r>
                        <a:rPr sz="1000">
                          <a:solidFill>
                            <a:srgbClr val="0B2545"/>
                          </a:solidFill>
                        </a:rPr>
                        <a:t>3</a:t>
                      </a:r>
                    </a:p>
                  </a:txBody>
                  <a:tcPr anchor="ctr">
                    <a:solidFill>
                      <a:srgbClr val="FFFFFF"/>
                    </a:solidFill>
                  </a:tcPr>
                </a:tc>
                <a:tc>
                  <a:txBody>
                    <a:bodyPr/>
                    <a:lstStyle/>
                    <a:p>
                      <a:pPr algn="ctr"/>
                      <a:r>
                        <a:rPr sz="1000">
                          <a:solidFill>
                            <a:srgbClr val="0B2545"/>
                          </a:solidFill>
                        </a:rPr>
                        <a:t>97.50%</a:t>
                      </a:r>
                    </a:p>
                  </a:txBody>
                  <a:tcPr anchor="ctr">
                    <a:solidFill>
                      <a:srgbClr val="FFFFFF"/>
                    </a:solidFill>
                  </a:tcPr>
                </a:tc>
                <a:tc>
                  <a:txBody>
                    <a:bodyPr/>
                    <a:lstStyle/>
                    <a:p>
                      <a:pPr algn="ctr"/>
                      <a:r>
                        <a:rPr sz="1000">
                          <a:solidFill>
                            <a:srgbClr val="0B2545"/>
                          </a:solidFill>
                        </a:rPr>
                        <a:t>50.00%</a:t>
                      </a:r>
                    </a:p>
                  </a:txBody>
                  <a:tcPr anchor="ctr">
                    <a:solidFill>
                      <a:srgbClr val="FFFFFF"/>
                    </a:solidFill>
                  </a:tcPr>
                </a:tc>
              </a:tr>
              <a:tr h="320040">
                <a:tc>
                  <a:txBody>
                    <a:bodyPr/>
                    <a:lstStyle/>
                    <a:p>
                      <a:pPr algn="ctr"/>
                      <a:r>
                        <a:rPr sz="1000">
                          <a:solidFill>
                            <a:srgbClr val="0B2545"/>
                          </a:solidFill>
                        </a:rPr>
                        <a:t>4</a:t>
                      </a:r>
                    </a:p>
                  </a:txBody>
                  <a:tcPr anchor="ctr">
                    <a:solidFill>
                      <a:srgbClr val="F1F5F9"/>
                    </a:solidFill>
                  </a:tcPr>
                </a:tc>
                <a:tc>
                  <a:txBody>
                    <a:bodyPr/>
                    <a:lstStyle/>
                    <a:p>
                      <a:pPr algn="ctr"/>
                      <a:r>
                        <a:rPr sz="1000">
                          <a:solidFill>
                            <a:srgbClr val="0B2545"/>
                          </a:solidFill>
                        </a:rPr>
                        <a:t>97.50%</a:t>
                      </a:r>
                    </a:p>
                  </a:txBody>
                  <a:tcPr anchor="ctr">
                    <a:solidFill>
                      <a:srgbClr val="F1F5F9"/>
                    </a:solidFill>
                  </a:tcPr>
                </a:tc>
                <a:tc>
                  <a:txBody>
                    <a:bodyPr/>
                    <a:lstStyle/>
                    <a:p>
                      <a:pPr algn="ctr"/>
                      <a:r>
                        <a:rPr sz="1000">
                          <a:solidFill>
                            <a:srgbClr val="0B2545"/>
                          </a:solidFill>
                        </a:rPr>
                        <a:t>85.00%</a:t>
                      </a:r>
                    </a:p>
                  </a:txBody>
                  <a:tcPr anchor="ctr">
                    <a:solidFill>
                      <a:srgbClr val="F1F5F9"/>
                    </a:solidFill>
                  </a:tcPr>
                </a:tc>
              </a:tr>
              <a:tr h="320040">
                <a:tc>
                  <a:txBody>
                    <a:bodyPr/>
                    <a:lstStyle/>
                    <a:p>
                      <a:pPr algn="ctr"/>
                      <a:r>
                        <a:rPr sz="1000">
                          <a:solidFill>
                            <a:srgbClr val="0B2545"/>
                          </a:solidFill>
                        </a:rPr>
                        <a:t>5</a:t>
                      </a:r>
                    </a:p>
                  </a:txBody>
                  <a:tcPr anchor="ctr">
                    <a:solidFill>
                      <a:srgbClr val="FFFFFF"/>
                    </a:solidFill>
                  </a:tcPr>
                </a:tc>
                <a:tc>
                  <a:txBody>
                    <a:bodyPr/>
                    <a:lstStyle/>
                    <a:p>
                      <a:pPr algn="ctr"/>
                      <a:r>
                        <a:rPr sz="1000">
                          <a:solidFill>
                            <a:srgbClr val="0B2545"/>
                          </a:solidFill>
                        </a:rPr>
                        <a:t>98.75%</a:t>
                      </a:r>
                    </a:p>
                  </a:txBody>
                  <a:tcPr anchor="ctr">
                    <a:solidFill>
                      <a:srgbClr val="FFFFFF"/>
                    </a:solidFill>
                  </a:tcPr>
                </a:tc>
                <a:tc>
                  <a:txBody>
                    <a:bodyPr/>
                    <a:lstStyle/>
                    <a:p>
                      <a:pPr algn="ctr"/>
                      <a:r>
                        <a:rPr sz="1000">
                          <a:solidFill>
                            <a:srgbClr val="0B2545"/>
                          </a:solidFill>
                        </a:rPr>
                        <a:t>100.00%</a:t>
                      </a:r>
                    </a:p>
                  </a:txBody>
                  <a:tcPr anchor="ctr">
                    <a:solidFill>
                      <a:srgbClr val="FFFFFF"/>
                    </a:solidFill>
                  </a:tcPr>
                </a:tc>
              </a:tr>
            </a:tbl>
          </a:graphicData>
        </a:graphic>
      </p:graphicFrame>
      <p:sp>
        <p:nvSpPr>
          <p:cNvPr id="9" name="TextBox 8"/>
          <p:cNvSpPr txBox="1"/>
          <p:nvPr/>
        </p:nvSpPr>
        <p:spPr>
          <a:xfrm>
            <a:off x="8549640" y="3886200"/>
            <a:ext cx="3108960" cy="2194560"/>
          </a:xfrm>
          <a:prstGeom prst="rect">
            <a:avLst/>
          </a:prstGeom>
          <a:noFill/>
        </p:spPr>
        <p:txBody>
          <a:bodyPr wrap="square" lIns="0" rIns="0" tIns="0" bIns="0">
            <a:spAutoFit/>
          </a:bodyPr>
          <a:lstStyle/>
          <a:p>
            <a:pPr algn="l">
              <a:lnSpc>
                <a:spcPct val="130000"/>
              </a:lnSpc>
            </a:pPr>
            <a:r>
              <a:rPr sz="1000" b="0">
                <a:solidFill>
                  <a:srgbClr val="0B2545"/>
                </a:solidFill>
                <a:latin typeface="Calibri"/>
              </a:rPr>
              <a:t>Akurasi training naik dari 52.50% ke 98.75%.</a:t>
            </a:r>
          </a:p>
          <a:p>
            <a:pPr algn="l">
              <a:lnSpc>
                <a:spcPct val="130000"/>
              </a:lnSpc>
            </a:pPr>
            <a:r>
              <a:rPr sz="1000" b="0">
                <a:solidFill>
                  <a:srgbClr val="0B2545"/>
                </a:solidFill>
                <a:latin typeface="Calibri"/>
              </a:rPr>
              <a:t/>
            </a:r>
          </a:p>
          <a:p>
            <a:pPr algn="l">
              <a:lnSpc>
                <a:spcPct val="130000"/>
              </a:lnSpc>
            </a:pPr>
            <a:r>
              <a:rPr sz="1000" b="0">
                <a:solidFill>
                  <a:srgbClr val="0B2545"/>
                </a:solidFill>
                <a:latin typeface="Calibri"/>
              </a:rPr>
              <a:t>Akurasi validasi naik dari 50.00% ke 100.00% pada epoch 5.</a:t>
            </a:r>
          </a:p>
          <a:p>
            <a:pPr algn="l">
              <a:lnSpc>
                <a:spcPct val="130000"/>
              </a:lnSpc>
            </a:pPr>
            <a:r>
              <a:rPr sz="1000" b="0">
                <a:solidFill>
                  <a:srgbClr val="0B2545"/>
                </a:solidFill>
                <a:latin typeface="Calibri"/>
              </a:rPr>
              <a:t/>
            </a:r>
          </a:p>
          <a:p>
            <a:pPr algn="l">
              <a:lnSpc>
                <a:spcPct val="130000"/>
              </a:lnSpc>
            </a:pPr>
            <a:r>
              <a:rPr sz="1000" b="0">
                <a:solidFill>
                  <a:srgbClr val="0B2545"/>
                </a:solidFill>
                <a:latin typeface="Calibri"/>
              </a:rPr>
              <a:t>Mulai epoch 4 seluruh data validasi terklasifikasi benar.</a:t>
            </a:r>
          </a:p>
        </p:txBody>
      </p:sp>
      <p:sp>
        <p:nvSpPr>
          <p:cNvPr id="10" name="TextBox 9"/>
          <p:cNvSpPr txBox="1"/>
          <p:nvPr/>
        </p:nvSpPr>
        <p:spPr>
          <a:xfrm>
            <a:off x="566928" y="6355080"/>
            <a:ext cx="7315200" cy="274320"/>
          </a:xfrm>
          <a:prstGeom prst="rect">
            <a:avLst/>
          </a:prstGeom>
          <a:noFill/>
        </p:spPr>
        <p:txBody>
          <a:bodyPr wrap="square" lIns="0" rIns="0" tIns="0" bIns="0">
            <a:spAutoFit/>
          </a:bodyPr>
          <a:lstStyle/>
          <a:p>
            <a:pPr algn="l">
              <a:lnSpc>
                <a:spcPct val="110000"/>
              </a:lnSpc>
            </a:pPr>
            <a:r>
              <a:rPr sz="1000" b="0">
                <a:solidFill>
                  <a:srgbClr val="5F6368"/>
                </a:solidFill>
                <a:latin typeface="Calibri"/>
              </a:rPr>
              <a:t>Assignment 1 - Single Layer Perceptron</a:t>
            </a:r>
          </a:p>
        </p:txBody>
      </p:sp>
      <p:sp>
        <p:nvSpPr>
          <p:cNvPr id="11" name="TextBox 10"/>
          <p:cNvSpPr txBox="1"/>
          <p:nvPr/>
        </p:nvSpPr>
        <p:spPr>
          <a:xfrm>
            <a:off x="10332720" y="6355080"/>
            <a:ext cx="1280160" cy="274320"/>
          </a:xfrm>
          <a:prstGeom prst="rect">
            <a:avLst/>
          </a:prstGeom>
          <a:noFill/>
        </p:spPr>
        <p:txBody>
          <a:bodyPr wrap="square" lIns="0" rIns="0" tIns="0" bIns="0">
            <a:spAutoFit/>
          </a:bodyPr>
          <a:lstStyle/>
          <a:p>
            <a:pPr algn="r">
              <a:lnSpc>
                <a:spcPct val="110000"/>
              </a:lnSpc>
            </a:pPr>
            <a:r>
              <a:rPr sz="1000" b="0">
                <a:solidFill>
                  <a:srgbClr val="5F6368"/>
                </a:solidFill>
                <a:latin typeface="Calibri"/>
              </a:rP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64240" cy="548640"/>
          </a:xfrm>
          <a:prstGeom prst="rect">
            <a:avLst/>
          </a:prstGeom>
          <a:noFill/>
        </p:spPr>
        <p:txBody>
          <a:bodyPr wrap="square" lIns="0" rIns="0" tIns="0" bIns="0">
            <a:spAutoFit/>
          </a:bodyPr>
          <a:lstStyle/>
          <a:p>
            <a:pPr algn="l">
              <a:lnSpc>
                <a:spcPct val="110000"/>
              </a:lnSpc>
            </a:pPr>
            <a:r>
              <a:rPr sz="2700" b="1">
                <a:solidFill>
                  <a:srgbClr val="0B2545"/>
                </a:solidFill>
                <a:latin typeface="Calibri"/>
              </a:rPr>
              <a:t>Accuracy Chart - dari Kode Python</a:t>
            </a:r>
          </a:p>
        </p:txBody>
      </p:sp>
      <p:sp>
        <p:nvSpPr>
          <p:cNvPr id="4" name="TextBox 3"/>
          <p:cNvSpPr txBox="1"/>
          <p:nvPr/>
        </p:nvSpPr>
        <p:spPr>
          <a:xfrm>
            <a:off x="566928" y="914400"/>
            <a:ext cx="11064240" cy="365760"/>
          </a:xfrm>
          <a:prstGeom prst="rect">
            <a:avLst/>
          </a:prstGeom>
          <a:noFill/>
        </p:spPr>
        <p:txBody>
          <a:bodyPr wrap="square" lIns="0" rIns="0" tIns="0" bIns="0">
            <a:spAutoFit/>
          </a:bodyPr>
          <a:lstStyle/>
          <a:p>
            <a:pPr algn="l">
              <a:lnSpc>
                <a:spcPct val="110000"/>
              </a:lnSpc>
            </a:pPr>
            <a:r>
              <a:rPr sz="1300" b="0">
                <a:solidFill>
                  <a:srgbClr val="5F6368"/>
                </a:solidFill>
                <a:latin typeface="Calibri"/>
              </a:rPr>
              <a:t>Learning rate 0.1  |  5 epoch  |  bobot awal 0.5  |  80 data training, 20 data validation</a:t>
            </a:r>
          </a:p>
        </p:txBody>
      </p:sp>
      <p:pic>
        <p:nvPicPr>
          <p:cNvPr id="5" name="Picture 4" descr="chart_accuracy_python.png"/>
          <p:cNvPicPr>
            <a:picLocks noChangeAspect="1"/>
          </p:cNvPicPr>
          <p:nvPr/>
        </p:nvPicPr>
        <p:blipFill>
          <a:blip r:embed="rId2"/>
          <a:stretch>
            <a:fillRect/>
          </a:stretch>
        </p:blipFill>
        <p:spPr>
          <a:xfrm>
            <a:off x="569467" y="1325880"/>
            <a:ext cx="7721600" cy="4343400"/>
          </a:xfrm>
          <a:prstGeom prst="rect">
            <a:avLst/>
          </a:prstGeom>
        </p:spPr>
      </p:pic>
      <p:sp>
        <p:nvSpPr>
          <p:cNvPr id="6" name="TextBox 5"/>
          <p:cNvSpPr txBox="1"/>
          <p:nvPr/>
        </p:nvSpPr>
        <p:spPr>
          <a:xfrm>
            <a:off x="566928" y="5806440"/>
            <a:ext cx="7726679" cy="411480"/>
          </a:xfrm>
          <a:prstGeom prst="rect">
            <a:avLst/>
          </a:prstGeom>
          <a:noFill/>
        </p:spPr>
        <p:txBody>
          <a:bodyPr wrap="square" lIns="0" rIns="0" tIns="0" bIns="0">
            <a:spAutoFit/>
          </a:bodyPr>
          <a:lstStyle/>
          <a:p>
            <a:pPr algn="l">
              <a:lnSpc>
                <a:spcPct val="125000"/>
              </a:lnSpc>
            </a:pPr>
            <a:r>
              <a:rPr sz="1000" b="0">
                <a:solidFill>
                  <a:srgbClr val="5F6368"/>
                </a:solidFill>
                <a:latin typeface="Calibri"/>
              </a:rPr>
              <a:t>Sumber: slp_iris.py. Nilai per epoch sama persis dengan spreadsheet karena memakai rumus, urutan data, dan bobot awal yang sama.</a:t>
            </a:r>
          </a:p>
        </p:txBody>
      </p:sp>
      <p:sp>
        <p:nvSpPr>
          <p:cNvPr id="7" name="TextBox 6"/>
          <p:cNvSpPr txBox="1"/>
          <p:nvPr/>
        </p:nvSpPr>
        <p:spPr>
          <a:xfrm>
            <a:off x="8549640" y="1371600"/>
            <a:ext cx="3108960" cy="274320"/>
          </a:xfrm>
          <a:prstGeom prst="rect">
            <a:avLst/>
          </a:prstGeom>
          <a:noFill/>
        </p:spPr>
        <p:txBody>
          <a:bodyPr wrap="square" lIns="0" rIns="0" tIns="0" bIns="0">
            <a:spAutoFit/>
          </a:bodyPr>
          <a:lstStyle/>
          <a:p>
            <a:pPr algn="l">
              <a:lnSpc>
                <a:spcPct val="110000"/>
              </a:lnSpc>
            </a:pPr>
            <a:r>
              <a:rPr sz="1100" b="1">
                <a:solidFill>
                  <a:srgbClr val="1A73E8"/>
                </a:solidFill>
                <a:latin typeface="Calibri"/>
              </a:rPr>
              <a:t>NILAI PER EPOCH</a:t>
            </a:r>
          </a:p>
        </p:txBody>
      </p:sp>
      <p:graphicFrame>
        <p:nvGraphicFramePr>
          <p:cNvPr id="8" name="Table 7"/>
          <p:cNvGraphicFramePr>
            <a:graphicFrameLocks noGrp="1"/>
          </p:cNvGraphicFramePr>
          <p:nvPr/>
        </p:nvGraphicFramePr>
        <p:xfrm>
          <a:off x="8549640" y="1737360"/>
          <a:ext cx="3108960" cy="1920240"/>
        </p:xfrm>
        <a:graphic>
          <a:graphicData uri="http://schemas.openxmlformats.org/drawingml/2006/table">
            <a:tbl>
              <a:tblPr firstRow="1" bandRow="1">
                <a:tableStyleId>{5C22544A-7EE6-4342-B048-85BDC9FD1C3A}</a:tableStyleId>
              </a:tblPr>
              <a:tblGrid>
                <a:gridCol w="829056"/>
                <a:gridCol w="1139952"/>
                <a:gridCol w="1139952"/>
              </a:tblGrid>
              <a:tr h="320040">
                <a:tc>
                  <a:txBody>
                    <a:bodyPr/>
                    <a:lstStyle/>
                    <a:p>
                      <a:pPr algn="ctr"/>
                      <a:r>
                        <a:rPr sz="1100" b="1">
                          <a:solidFill>
                            <a:srgbClr val="FFFFFF"/>
                          </a:solidFill>
                        </a:rPr>
                        <a:t>Epoch</a:t>
                      </a:r>
                    </a:p>
                  </a:txBody>
                  <a:tcPr anchor="ctr">
                    <a:solidFill>
                      <a:srgbClr val="0B2545"/>
                    </a:solidFill>
                  </a:tcPr>
                </a:tc>
                <a:tc>
                  <a:txBody>
                    <a:bodyPr/>
                    <a:lstStyle/>
                    <a:p>
                      <a:pPr algn="ctr"/>
                      <a:r>
                        <a:rPr sz="1100" b="1">
                          <a:solidFill>
                            <a:srgbClr val="FFFFFF"/>
                          </a:solidFill>
                        </a:rPr>
                        <a:t>Train</a:t>
                      </a:r>
                    </a:p>
                  </a:txBody>
                  <a:tcPr anchor="ctr">
                    <a:solidFill>
                      <a:srgbClr val="0B2545"/>
                    </a:solidFill>
                  </a:tcPr>
                </a:tc>
                <a:tc>
                  <a:txBody>
                    <a:bodyPr/>
                    <a:lstStyle/>
                    <a:p>
                      <a:pPr algn="ctr"/>
                      <a:r>
                        <a:rPr sz="1100" b="1">
                          <a:solidFill>
                            <a:srgbClr val="FFFFFF"/>
                          </a:solidFill>
                        </a:rPr>
                        <a:t>Validation</a:t>
                      </a:r>
                    </a:p>
                  </a:txBody>
                  <a:tcPr anchor="ctr">
                    <a:solidFill>
                      <a:srgbClr val="0B2545"/>
                    </a:solidFill>
                  </a:tcPr>
                </a:tc>
              </a:tr>
              <a:tr h="320040">
                <a:tc>
                  <a:txBody>
                    <a:bodyPr/>
                    <a:lstStyle/>
                    <a:p>
                      <a:pPr algn="ctr"/>
                      <a:r>
                        <a:rPr sz="1000">
                          <a:solidFill>
                            <a:srgbClr val="0B2545"/>
                          </a:solidFill>
                        </a:rPr>
                        <a:t>1</a:t>
                      </a:r>
                    </a:p>
                  </a:txBody>
                  <a:tcPr anchor="ctr">
                    <a:solidFill>
                      <a:srgbClr val="FFFFFF"/>
                    </a:solidFill>
                  </a:tcPr>
                </a:tc>
                <a:tc>
                  <a:txBody>
                    <a:bodyPr/>
                    <a:lstStyle/>
                    <a:p>
                      <a:pPr algn="ctr"/>
                      <a:r>
                        <a:rPr sz="1000">
                          <a:solidFill>
                            <a:srgbClr val="0B2545"/>
                          </a:solidFill>
                        </a:rPr>
                        <a:t>52.50%</a:t>
                      </a:r>
                    </a:p>
                  </a:txBody>
                  <a:tcPr anchor="ctr">
                    <a:solidFill>
                      <a:srgbClr val="FFFFFF"/>
                    </a:solidFill>
                  </a:tcPr>
                </a:tc>
                <a:tc>
                  <a:txBody>
                    <a:bodyPr/>
                    <a:lstStyle/>
                    <a:p>
                      <a:pPr algn="ctr"/>
                      <a:r>
                        <a:rPr sz="1000">
                          <a:solidFill>
                            <a:srgbClr val="0B2545"/>
                          </a:solidFill>
                        </a:rPr>
                        <a:t>50.00%</a:t>
                      </a:r>
                    </a:p>
                  </a:txBody>
                  <a:tcPr anchor="ctr">
                    <a:solidFill>
                      <a:srgbClr val="FFFFFF"/>
                    </a:solidFill>
                  </a:tcPr>
                </a:tc>
              </a:tr>
              <a:tr h="320040">
                <a:tc>
                  <a:txBody>
                    <a:bodyPr/>
                    <a:lstStyle/>
                    <a:p>
                      <a:pPr algn="ctr"/>
                      <a:r>
                        <a:rPr sz="1000">
                          <a:solidFill>
                            <a:srgbClr val="0B2545"/>
                          </a:solidFill>
                        </a:rPr>
                        <a:t>2</a:t>
                      </a:r>
                    </a:p>
                  </a:txBody>
                  <a:tcPr anchor="ctr">
                    <a:solidFill>
                      <a:srgbClr val="F1F5F9"/>
                    </a:solidFill>
                  </a:tcPr>
                </a:tc>
                <a:tc>
                  <a:txBody>
                    <a:bodyPr/>
                    <a:lstStyle/>
                    <a:p>
                      <a:pPr algn="ctr"/>
                      <a:r>
                        <a:rPr sz="1000">
                          <a:solidFill>
                            <a:srgbClr val="0B2545"/>
                          </a:solidFill>
                        </a:rPr>
                        <a:t>95.00%</a:t>
                      </a:r>
                    </a:p>
                  </a:txBody>
                  <a:tcPr anchor="ctr">
                    <a:solidFill>
                      <a:srgbClr val="F1F5F9"/>
                    </a:solidFill>
                  </a:tcPr>
                </a:tc>
                <a:tc>
                  <a:txBody>
                    <a:bodyPr/>
                    <a:lstStyle/>
                    <a:p>
                      <a:pPr algn="ctr"/>
                      <a:r>
                        <a:rPr sz="1000">
                          <a:solidFill>
                            <a:srgbClr val="0B2545"/>
                          </a:solidFill>
                        </a:rPr>
                        <a:t>50.00%</a:t>
                      </a:r>
                    </a:p>
                  </a:txBody>
                  <a:tcPr anchor="ctr">
                    <a:solidFill>
                      <a:srgbClr val="F1F5F9"/>
                    </a:solidFill>
                  </a:tcPr>
                </a:tc>
              </a:tr>
              <a:tr h="320040">
                <a:tc>
                  <a:txBody>
                    <a:bodyPr/>
                    <a:lstStyle/>
                    <a:p>
                      <a:pPr algn="ctr"/>
                      <a:r>
                        <a:rPr sz="1000">
                          <a:solidFill>
                            <a:srgbClr val="0B2545"/>
                          </a:solidFill>
                        </a:rPr>
                        <a:t>3</a:t>
                      </a:r>
                    </a:p>
                  </a:txBody>
                  <a:tcPr anchor="ctr">
                    <a:solidFill>
                      <a:srgbClr val="FFFFFF"/>
                    </a:solidFill>
                  </a:tcPr>
                </a:tc>
                <a:tc>
                  <a:txBody>
                    <a:bodyPr/>
                    <a:lstStyle/>
                    <a:p>
                      <a:pPr algn="ctr"/>
                      <a:r>
                        <a:rPr sz="1000">
                          <a:solidFill>
                            <a:srgbClr val="0B2545"/>
                          </a:solidFill>
                        </a:rPr>
                        <a:t>97.50%</a:t>
                      </a:r>
                    </a:p>
                  </a:txBody>
                  <a:tcPr anchor="ctr">
                    <a:solidFill>
                      <a:srgbClr val="FFFFFF"/>
                    </a:solidFill>
                  </a:tcPr>
                </a:tc>
                <a:tc>
                  <a:txBody>
                    <a:bodyPr/>
                    <a:lstStyle/>
                    <a:p>
                      <a:pPr algn="ctr"/>
                      <a:r>
                        <a:rPr sz="1000">
                          <a:solidFill>
                            <a:srgbClr val="0B2545"/>
                          </a:solidFill>
                        </a:rPr>
                        <a:t>50.00%</a:t>
                      </a:r>
                    </a:p>
                  </a:txBody>
                  <a:tcPr anchor="ctr">
                    <a:solidFill>
                      <a:srgbClr val="FFFFFF"/>
                    </a:solidFill>
                  </a:tcPr>
                </a:tc>
              </a:tr>
              <a:tr h="320040">
                <a:tc>
                  <a:txBody>
                    <a:bodyPr/>
                    <a:lstStyle/>
                    <a:p>
                      <a:pPr algn="ctr"/>
                      <a:r>
                        <a:rPr sz="1000">
                          <a:solidFill>
                            <a:srgbClr val="0B2545"/>
                          </a:solidFill>
                        </a:rPr>
                        <a:t>4</a:t>
                      </a:r>
                    </a:p>
                  </a:txBody>
                  <a:tcPr anchor="ctr">
                    <a:solidFill>
                      <a:srgbClr val="F1F5F9"/>
                    </a:solidFill>
                  </a:tcPr>
                </a:tc>
                <a:tc>
                  <a:txBody>
                    <a:bodyPr/>
                    <a:lstStyle/>
                    <a:p>
                      <a:pPr algn="ctr"/>
                      <a:r>
                        <a:rPr sz="1000">
                          <a:solidFill>
                            <a:srgbClr val="0B2545"/>
                          </a:solidFill>
                        </a:rPr>
                        <a:t>97.50%</a:t>
                      </a:r>
                    </a:p>
                  </a:txBody>
                  <a:tcPr anchor="ctr">
                    <a:solidFill>
                      <a:srgbClr val="F1F5F9"/>
                    </a:solidFill>
                  </a:tcPr>
                </a:tc>
                <a:tc>
                  <a:txBody>
                    <a:bodyPr/>
                    <a:lstStyle/>
                    <a:p>
                      <a:pPr algn="ctr"/>
                      <a:r>
                        <a:rPr sz="1000">
                          <a:solidFill>
                            <a:srgbClr val="0B2545"/>
                          </a:solidFill>
                        </a:rPr>
                        <a:t>85.00%</a:t>
                      </a:r>
                    </a:p>
                  </a:txBody>
                  <a:tcPr anchor="ctr">
                    <a:solidFill>
                      <a:srgbClr val="F1F5F9"/>
                    </a:solidFill>
                  </a:tcPr>
                </a:tc>
              </a:tr>
              <a:tr h="320040">
                <a:tc>
                  <a:txBody>
                    <a:bodyPr/>
                    <a:lstStyle/>
                    <a:p>
                      <a:pPr algn="ctr"/>
                      <a:r>
                        <a:rPr sz="1000">
                          <a:solidFill>
                            <a:srgbClr val="0B2545"/>
                          </a:solidFill>
                        </a:rPr>
                        <a:t>5</a:t>
                      </a:r>
                    </a:p>
                  </a:txBody>
                  <a:tcPr anchor="ctr">
                    <a:solidFill>
                      <a:srgbClr val="FFFFFF"/>
                    </a:solidFill>
                  </a:tcPr>
                </a:tc>
                <a:tc>
                  <a:txBody>
                    <a:bodyPr/>
                    <a:lstStyle/>
                    <a:p>
                      <a:pPr algn="ctr"/>
                      <a:r>
                        <a:rPr sz="1000">
                          <a:solidFill>
                            <a:srgbClr val="0B2545"/>
                          </a:solidFill>
                        </a:rPr>
                        <a:t>98.75%</a:t>
                      </a:r>
                    </a:p>
                  </a:txBody>
                  <a:tcPr anchor="ctr">
                    <a:solidFill>
                      <a:srgbClr val="FFFFFF"/>
                    </a:solidFill>
                  </a:tcPr>
                </a:tc>
                <a:tc>
                  <a:txBody>
                    <a:bodyPr/>
                    <a:lstStyle/>
                    <a:p>
                      <a:pPr algn="ctr"/>
                      <a:r>
                        <a:rPr sz="1000">
                          <a:solidFill>
                            <a:srgbClr val="0B2545"/>
                          </a:solidFill>
                        </a:rPr>
                        <a:t>100.00%</a:t>
                      </a:r>
                    </a:p>
                  </a:txBody>
                  <a:tcPr anchor="ctr">
                    <a:solidFill>
                      <a:srgbClr val="FFFFFF"/>
                    </a:solidFill>
                  </a:tcPr>
                </a:tc>
              </a:tr>
            </a:tbl>
          </a:graphicData>
        </a:graphic>
      </p:graphicFrame>
      <p:sp>
        <p:nvSpPr>
          <p:cNvPr id="9" name="TextBox 8"/>
          <p:cNvSpPr txBox="1"/>
          <p:nvPr/>
        </p:nvSpPr>
        <p:spPr>
          <a:xfrm>
            <a:off x="8549640" y="3886200"/>
            <a:ext cx="3108960" cy="2194560"/>
          </a:xfrm>
          <a:prstGeom prst="rect">
            <a:avLst/>
          </a:prstGeom>
          <a:noFill/>
        </p:spPr>
        <p:txBody>
          <a:bodyPr wrap="square" lIns="0" rIns="0" tIns="0" bIns="0">
            <a:spAutoFit/>
          </a:bodyPr>
          <a:lstStyle/>
          <a:p>
            <a:pPr algn="l">
              <a:lnSpc>
                <a:spcPct val="130000"/>
              </a:lnSpc>
            </a:pPr>
            <a:r>
              <a:rPr sz="1000" b="0">
                <a:solidFill>
                  <a:srgbClr val="0B2545"/>
                </a:solidFill>
                <a:latin typeface="Calibri"/>
              </a:rPr>
              <a:t>Akurasi training naik dari 52.50% ke 98.75%.</a:t>
            </a:r>
          </a:p>
          <a:p>
            <a:pPr algn="l">
              <a:lnSpc>
                <a:spcPct val="130000"/>
              </a:lnSpc>
            </a:pPr>
            <a:r>
              <a:rPr sz="1000" b="0">
                <a:solidFill>
                  <a:srgbClr val="0B2545"/>
                </a:solidFill>
                <a:latin typeface="Calibri"/>
              </a:rPr>
              <a:t/>
            </a:r>
          </a:p>
          <a:p>
            <a:pPr algn="l">
              <a:lnSpc>
                <a:spcPct val="130000"/>
              </a:lnSpc>
            </a:pPr>
            <a:r>
              <a:rPr sz="1000" b="0">
                <a:solidFill>
                  <a:srgbClr val="0B2545"/>
                </a:solidFill>
                <a:latin typeface="Calibri"/>
              </a:rPr>
              <a:t>Akurasi validasi naik dari 50.00% ke 100.00% pada epoch 5.</a:t>
            </a:r>
          </a:p>
          <a:p>
            <a:pPr algn="l">
              <a:lnSpc>
                <a:spcPct val="130000"/>
              </a:lnSpc>
            </a:pPr>
            <a:r>
              <a:rPr sz="1000" b="0">
                <a:solidFill>
                  <a:srgbClr val="0B2545"/>
                </a:solidFill>
                <a:latin typeface="Calibri"/>
              </a:rPr>
              <a:t/>
            </a:r>
          </a:p>
          <a:p>
            <a:pPr algn="l">
              <a:lnSpc>
                <a:spcPct val="130000"/>
              </a:lnSpc>
            </a:pPr>
            <a:r>
              <a:rPr sz="1000" b="0">
                <a:solidFill>
                  <a:srgbClr val="0B2545"/>
                </a:solidFill>
                <a:latin typeface="Calibri"/>
              </a:rPr>
              <a:t>Mulai epoch 4 seluruh data validasi terklasifikasi benar.</a:t>
            </a:r>
          </a:p>
          <a:p>
            <a:pPr algn="l">
              <a:lnSpc>
                <a:spcPct val="130000"/>
              </a:lnSpc>
            </a:pPr>
            <a:r>
              <a:rPr sz="1000" b="0">
                <a:solidFill>
                  <a:srgbClr val="0B2545"/>
                </a:solidFill>
                <a:latin typeface="Calibri"/>
              </a:rPr>
              <a:t>Angka identik dengan hasil Google Sheets.</a:t>
            </a:r>
          </a:p>
        </p:txBody>
      </p:sp>
      <p:sp>
        <p:nvSpPr>
          <p:cNvPr id="10" name="TextBox 9"/>
          <p:cNvSpPr txBox="1"/>
          <p:nvPr/>
        </p:nvSpPr>
        <p:spPr>
          <a:xfrm>
            <a:off x="566928" y="6355080"/>
            <a:ext cx="7315200" cy="274320"/>
          </a:xfrm>
          <a:prstGeom prst="rect">
            <a:avLst/>
          </a:prstGeom>
          <a:noFill/>
        </p:spPr>
        <p:txBody>
          <a:bodyPr wrap="square" lIns="0" rIns="0" tIns="0" bIns="0">
            <a:spAutoFit/>
          </a:bodyPr>
          <a:lstStyle/>
          <a:p>
            <a:pPr algn="l">
              <a:lnSpc>
                <a:spcPct val="110000"/>
              </a:lnSpc>
            </a:pPr>
            <a:r>
              <a:rPr sz="1000" b="0">
                <a:solidFill>
                  <a:srgbClr val="5F6368"/>
                </a:solidFill>
                <a:latin typeface="Calibri"/>
              </a:rPr>
              <a:t>Assignment 1 - Single Layer Perceptron</a:t>
            </a:r>
          </a:p>
        </p:txBody>
      </p:sp>
      <p:sp>
        <p:nvSpPr>
          <p:cNvPr id="11" name="TextBox 10"/>
          <p:cNvSpPr txBox="1"/>
          <p:nvPr/>
        </p:nvSpPr>
        <p:spPr>
          <a:xfrm>
            <a:off x="10332720" y="6355080"/>
            <a:ext cx="1280160" cy="274320"/>
          </a:xfrm>
          <a:prstGeom prst="rect">
            <a:avLst/>
          </a:prstGeom>
          <a:noFill/>
        </p:spPr>
        <p:txBody>
          <a:bodyPr wrap="square" lIns="0" rIns="0" tIns="0" bIns="0">
            <a:spAutoFit/>
          </a:bodyPr>
          <a:lstStyle/>
          <a:p>
            <a:pPr algn="r">
              <a:lnSpc>
                <a:spcPct val="110000"/>
              </a:lnSpc>
            </a:pPr>
            <a:r>
              <a:rPr sz="1000" b="0">
                <a:solidFill>
                  <a:srgbClr val="5F6368"/>
                </a:solidFill>
                <a:latin typeface="Calibri"/>
              </a:rP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64240" cy="548640"/>
          </a:xfrm>
          <a:prstGeom prst="rect">
            <a:avLst/>
          </a:prstGeom>
          <a:noFill/>
        </p:spPr>
        <p:txBody>
          <a:bodyPr wrap="square" lIns="0" rIns="0" tIns="0" bIns="0">
            <a:spAutoFit/>
          </a:bodyPr>
          <a:lstStyle/>
          <a:p>
            <a:pPr algn="l">
              <a:lnSpc>
                <a:spcPct val="110000"/>
              </a:lnSpc>
            </a:pPr>
            <a:r>
              <a:rPr sz="2700" b="1">
                <a:solidFill>
                  <a:srgbClr val="0B2545"/>
                </a:solidFill>
                <a:latin typeface="Calibri"/>
              </a:rPr>
              <a:t>Loss Chart - dari Google Sheets</a:t>
            </a:r>
          </a:p>
        </p:txBody>
      </p:sp>
      <p:sp>
        <p:nvSpPr>
          <p:cNvPr id="4" name="TextBox 3"/>
          <p:cNvSpPr txBox="1"/>
          <p:nvPr/>
        </p:nvSpPr>
        <p:spPr>
          <a:xfrm>
            <a:off x="566928" y="914400"/>
            <a:ext cx="11064240" cy="365760"/>
          </a:xfrm>
          <a:prstGeom prst="rect">
            <a:avLst/>
          </a:prstGeom>
          <a:noFill/>
        </p:spPr>
        <p:txBody>
          <a:bodyPr wrap="square" lIns="0" rIns="0" tIns="0" bIns="0">
            <a:spAutoFit/>
          </a:bodyPr>
          <a:lstStyle/>
          <a:p>
            <a:pPr algn="l">
              <a:lnSpc>
                <a:spcPct val="110000"/>
              </a:lnSpc>
            </a:pPr>
            <a:r>
              <a:rPr sz="1300" b="0">
                <a:solidFill>
                  <a:srgbClr val="5F6368"/>
                </a:solidFill>
                <a:latin typeface="Calibri"/>
              </a:rPr>
              <a:t>Learning rate 0.1  |  5 epoch  |  bobot awal 0.5  |  80 data training, 20 data validation</a:t>
            </a:r>
          </a:p>
        </p:txBody>
      </p:sp>
      <p:pic>
        <p:nvPicPr>
          <p:cNvPr id="5" name="Picture 4" descr="chart_loss_gsheet.png"/>
          <p:cNvPicPr>
            <a:picLocks noChangeAspect="1"/>
          </p:cNvPicPr>
          <p:nvPr/>
        </p:nvPicPr>
        <p:blipFill>
          <a:blip r:embed="rId2"/>
          <a:stretch>
            <a:fillRect/>
          </a:stretch>
        </p:blipFill>
        <p:spPr>
          <a:xfrm>
            <a:off x="569467" y="1325880"/>
            <a:ext cx="7721600" cy="4343400"/>
          </a:xfrm>
          <a:prstGeom prst="rect">
            <a:avLst/>
          </a:prstGeom>
        </p:spPr>
      </p:pic>
      <p:sp>
        <p:nvSpPr>
          <p:cNvPr id="6" name="TextBox 5"/>
          <p:cNvSpPr txBox="1"/>
          <p:nvPr/>
        </p:nvSpPr>
        <p:spPr>
          <a:xfrm>
            <a:off x="566928" y="5806440"/>
            <a:ext cx="7726679" cy="411480"/>
          </a:xfrm>
          <a:prstGeom prst="rect">
            <a:avLst/>
          </a:prstGeom>
          <a:noFill/>
        </p:spPr>
        <p:txBody>
          <a:bodyPr wrap="square" lIns="0" rIns="0" tIns="0" bIns="0">
            <a:spAutoFit/>
          </a:bodyPr>
          <a:lstStyle/>
          <a:p>
            <a:pPr algn="l">
              <a:lnSpc>
                <a:spcPct val="125000"/>
              </a:lnSpc>
            </a:pPr>
            <a:r>
              <a:rPr sz="1000" b="0">
                <a:solidFill>
                  <a:srgbClr val="5F6368"/>
                </a:solidFill>
                <a:latin typeface="Calibri"/>
              </a:rPr>
              <a:t>Sumber: sheet SLP-Training dan SLP-Validation, kolom Loss = AVERAGE(R:R), dengan R = (g(z) - target)^2.</a:t>
            </a:r>
          </a:p>
        </p:txBody>
      </p:sp>
      <p:sp>
        <p:nvSpPr>
          <p:cNvPr id="7" name="TextBox 6"/>
          <p:cNvSpPr txBox="1"/>
          <p:nvPr/>
        </p:nvSpPr>
        <p:spPr>
          <a:xfrm>
            <a:off x="8549640" y="1371600"/>
            <a:ext cx="3108960" cy="274320"/>
          </a:xfrm>
          <a:prstGeom prst="rect">
            <a:avLst/>
          </a:prstGeom>
          <a:noFill/>
        </p:spPr>
        <p:txBody>
          <a:bodyPr wrap="square" lIns="0" rIns="0" tIns="0" bIns="0">
            <a:spAutoFit/>
          </a:bodyPr>
          <a:lstStyle/>
          <a:p>
            <a:pPr algn="l">
              <a:lnSpc>
                <a:spcPct val="110000"/>
              </a:lnSpc>
            </a:pPr>
            <a:r>
              <a:rPr sz="1100" b="1">
                <a:solidFill>
                  <a:srgbClr val="1A73E8"/>
                </a:solidFill>
                <a:latin typeface="Calibri"/>
              </a:rPr>
              <a:t>NILAI PER EPOCH</a:t>
            </a:r>
          </a:p>
        </p:txBody>
      </p:sp>
      <p:graphicFrame>
        <p:nvGraphicFramePr>
          <p:cNvPr id="8" name="Table 7"/>
          <p:cNvGraphicFramePr>
            <a:graphicFrameLocks noGrp="1"/>
          </p:cNvGraphicFramePr>
          <p:nvPr/>
        </p:nvGraphicFramePr>
        <p:xfrm>
          <a:off x="8549640" y="1737360"/>
          <a:ext cx="3108960" cy="1920240"/>
        </p:xfrm>
        <a:graphic>
          <a:graphicData uri="http://schemas.openxmlformats.org/drawingml/2006/table">
            <a:tbl>
              <a:tblPr firstRow="1" bandRow="1">
                <a:tableStyleId>{5C22544A-7EE6-4342-B048-85BDC9FD1C3A}</a:tableStyleId>
              </a:tblPr>
              <a:tblGrid>
                <a:gridCol w="829056"/>
                <a:gridCol w="1139952"/>
                <a:gridCol w="1139952"/>
              </a:tblGrid>
              <a:tr h="320040">
                <a:tc>
                  <a:txBody>
                    <a:bodyPr/>
                    <a:lstStyle/>
                    <a:p>
                      <a:pPr algn="ctr"/>
                      <a:r>
                        <a:rPr sz="1100" b="1">
                          <a:solidFill>
                            <a:srgbClr val="FFFFFF"/>
                          </a:solidFill>
                        </a:rPr>
                        <a:t>Epoch</a:t>
                      </a:r>
                    </a:p>
                  </a:txBody>
                  <a:tcPr anchor="ctr">
                    <a:solidFill>
                      <a:srgbClr val="0B2545"/>
                    </a:solidFill>
                  </a:tcPr>
                </a:tc>
                <a:tc>
                  <a:txBody>
                    <a:bodyPr/>
                    <a:lstStyle/>
                    <a:p>
                      <a:pPr algn="ctr"/>
                      <a:r>
                        <a:rPr sz="1100" b="1">
                          <a:solidFill>
                            <a:srgbClr val="FFFFFF"/>
                          </a:solidFill>
                        </a:rPr>
                        <a:t>Train</a:t>
                      </a:r>
                    </a:p>
                  </a:txBody>
                  <a:tcPr anchor="ctr">
                    <a:solidFill>
                      <a:srgbClr val="0B2545"/>
                    </a:solidFill>
                  </a:tcPr>
                </a:tc>
                <a:tc>
                  <a:txBody>
                    <a:bodyPr/>
                    <a:lstStyle/>
                    <a:p>
                      <a:pPr algn="ctr"/>
                      <a:r>
                        <a:rPr sz="1100" b="1">
                          <a:solidFill>
                            <a:srgbClr val="FFFFFF"/>
                          </a:solidFill>
                        </a:rPr>
                        <a:t>Validation</a:t>
                      </a:r>
                    </a:p>
                  </a:txBody>
                  <a:tcPr anchor="ctr">
                    <a:solidFill>
                      <a:srgbClr val="0B2545"/>
                    </a:solidFill>
                  </a:tcPr>
                </a:tc>
              </a:tr>
              <a:tr h="320040">
                <a:tc>
                  <a:txBody>
                    <a:bodyPr/>
                    <a:lstStyle/>
                    <a:p>
                      <a:pPr algn="ctr"/>
                      <a:r>
                        <a:rPr sz="1000">
                          <a:solidFill>
                            <a:srgbClr val="0B2545"/>
                          </a:solidFill>
                        </a:rPr>
                        <a:t>1</a:t>
                      </a:r>
                    </a:p>
                  </a:txBody>
                  <a:tcPr anchor="ctr">
                    <a:solidFill>
                      <a:srgbClr val="FFFFFF"/>
                    </a:solidFill>
                  </a:tcPr>
                </a:tc>
                <a:tc>
                  <a:txBody>
                    <a:bodyPr/>
                    <a:lstStyle/>
                    <a:p>
                      <a:pPr algn="ctr"/>
                      <a:r>
                        <a:rPr sz="1000">
                          <a:solidFill>
                            <a:srgbClr val="0B2545"/>
                          </a:solidFill>
                        </a:rPr>
                        <a:t>0.4499</a:t>
                      </a:r>
                    </a:p>
                  </a:txBody>
                  <a:tcPr anchor="ctr">
                    <a:solidFill>
                      <a:srgbClr val="FFFFFF"/>
                    </a:solidFill>
                  </a:tcPr>
                </a:tc>
                <a:tc>
                  <a:txBody>
                    <a:bodyPr/>
                    <a:lstStyle/>
                    <a:p>
                      <a:pPr algn="ctr"/>
                      <a:r>
                        <a:rPr sz="1000">
                          <a:solidFill>
                            <a:srgbClr val="0B2545"/>
                          </a:solidFill>
                        </a:rPr>
                        <a:t>0.3290</a:t>
                      </a:r>
                    </a:p>
                  </a:txBody>
                  <a:tcPr anchor="ctr">
                    <a:solidFill>
                      <a:srgbClr val="FFFFFF"/>
                    </a:solidFill>
                  </a:tcPr>
                </a:tc>
              </a:tr>
              <a:tr h="320040">
                <a:tc>
                  <a:txBody>
                    <a:bodyPr/>
                    <a:lstStyle/>
                    <a:p>
                      <a:pPr algn="ctr"/>
                      <a:r>
                        <a:rPr sz="1000">
                          <a:solidFill>
                            <a:srgbClr val="0B2545"/>
                          </a:solidFill>
                        </a:rPr>
                        <a:t>2</a:t>
                      </a:r>
                    </a:p>
                  </a:txBody>
                  <a:tcPr anchor="ctr">
                    <a:solidFill>
                      <a:srgbClr val="F1F5F9"/>
                    </a:solidFill>
                  </a:tcPr>
                </a:tc>
                <a:tc>
                  <a:txBody>
                    <a:bodyPr/>
                    <a:lstStyle/>
                    <a:p>
                      <a:pPr algn="ctr"/>
                      <a:r>
                        <a:rPr sz="1000">
                          <a:solidFill>
                            <a:srgbClr val="0B2545"/>
                          </a:solidFill>
                        </a:rPr>
                        <a:t>0.0375</a:t>
                      </a:r>
                    </a:p>
                  </a:txBody>
                  <a:tcPr anchor="ctr">
                    <a:solidFill>
                      <a:srgbClr val="F1F5F9"/>
                    </a:solidFill>
                  </a:tcPr>
                </a:tc>
                <a:tc>
                  <a:txBody>
                    <a:bodyPr/>
                    <a:lstStyle/>
                    <a:p>
                      <a:pPr algn="ctr"/>
                      <a:r>
                        <a:rPr sz="1000">
                          <a:solidFill>
                            <a:srgbClr val="0B2545"/>
                          </a:solidFill>
                        </a:rPr>
                        <a:t>0.2473</a:t>
                      </a:r>
                    </a:p>
                  </a:txBody>
                  <a:tcPr anchor="ctr">
                    <a:solidFill>
                      <a:srgbClr val="F1F5F9"/>
                    </a:solidFill>
                  </a:tcPr>
                </a:tc>
              </a:tr>
              <a:tr h="320040">
                <a:tc>
                  <a:txBody>
                    <a:bodyPr/>
                    <a:lstStyle/>
                    <a:p>
                      <a:pPr algn="ctr"/>
                      <a:r>
                        <a:rPr sz="1000">
                          <a:solidFill>
                            <a:srgbClr val="0B2545"/>
                          </a:solidFill>
                        </a:rPr>
                        <a:t>3</a:t>
                      </a:r>
                    </a:p>
                  </a:txBody>
                  <a:tcPr anchor="ctr">
                    <a:solidFill>
                      <a:srgbClr val="FFFFFF"/>
                    </a:solidFill>
                  </a:tcPr>
                </a:tc>
                <a:tc>
                  <a:txBody>
                    <a:bodyPr/>
                    <a:lstStyle/>
                    <a:p>
                      <a:pPr algn="ctr"/>
                      <a:r>
                        <a:rPr sz="1000">
                          <a:solidFill>
                            <a:srgbClr val="0B2545"/>
                          </a:solidFill>
                        </a:rPr>
                        <a:t>0.0244</a:t>
                      </a:r>
                    </a:p>
                  </a:txBody>
                  <a:tcPr anchor="ctr">
                    <a:solidFill>
                      <a:srgbClr val="FFFFFF"/>
                    </a:solidFill>
                  </a:tcPr>
                </a:tc>
                <a:tc>
                  <a:txBody>
                    <a:bodyPr/>
                    <a:lstStyle/>
                    <a:p>
                      <a:pPr algn="ctr"/>
                      <a:r>
                        <a:rPr sz="1000">
                          <a:solidFill>
                            <a:srgbClr val="0B2545"/>
                          </a:solidFill>
                        </a:rPr>
                        <a:t>0.1759</a:t>
                      </a:r>
                    </a:p>
                  </a:txBody>
                  <a:tcPr anchor="ctr">
                    <a:solidFill>
                      <a:srgbClr val="FFFFFF"/>
                    </a:solidFill>
                  </a:tcPr>
                </a:tc>
              </a:tr>
              <a:tr h="320040">
                <a:tc>
                  <a:txBody>
                    <a:bodyPr/>
                    <a:lstStyle/>
                    <a:p>
                      <a:pPr algn="ctr"/>
                      <a:r>
                        <a:rPr sz="1000">
                          <a:solidFill>
                            <a:srgbClr val="0B2545"/>
                          </a:solidFill>
                        </a:rPr>
                        <a:t>4</a:t>
                      </a:r>
                    </a:p>
                  </a:txBody>
                  <a:tcPr anchor="ctr">
                    <a:solidFill>
                      <a:srgbClr val="F1F5F9"/>
                    </a:solidFill>
                  </a:tcPr>
                </a:tc>
                <a:tc>
                  <a:txBody>
                    <a:bodyPr/>
                    <a:lstStyle/>
                    <a:p>
                      <a:pPr algn="ctr"/>
                      <a:r>
                        <a:rPr sz="1000">
                          <a:solidFill>
                            <a:srgbClr val="0B2545"/>
                          </a:solidFill>
                        </a:rPr>
                        <a:t>0.0174</a:t>
                      </a:r>
                    </a:p>
                  </a:txBody>
                  <a:tcPr anchor="ctr">
                    <a:solidFill>
                      <a:srgbClr val="F1F5F9"/>
                    </a:solidFill>
                  </a:tcPr>
                </a:tc>
                <a:tc>
                  <a:txBody>
                    <a:bodyPr/>
                    <a:lstStyle/>
                    <a:p>
                      <a:pPr algn="ctr"/>
                      <a:r>
                        <a:rPr sz="1000">
                          <a:solidFill>
                            <a:srgbClr val="0B2545"/>
                          </a:solidFill>
                        </a:rPr>
                        <a:t>0.1194</a:t>
                      </a:r>
                    </a:p>
                  </a:txBody>
                  <a:tcPr anchor="ctr">
                    <a:solidFill>
                      <a:srgbClr val="F1F5F9"/>
                    </a:solidFill>
                  </a:tcPr>
                </a:tc>
              </a:tr>
              <a:tr h="320040">
                <a:tc>
                  <a:txBody>
                    <a:bodyPr/>
                    <a:lstStyle/>
                    <a:p>
                      <a:pPr algn="ctr"/>
                      <a:r>
                        <a:rPr sz="1000">
                          <a:solidFill>
                            <a:srgbClr val="0B2545"/>
                          </a:solidFill>
                        </a:rPr>
                        <a:t>5</a:t>
                      </a:r>
                    </a:p>
                  </a:txBody>
                  <a:tcPr anchor="ctr">
                    <a:solidFill>
                      <a:srgbClr val="FFFFFF"/>
                    </a:solidFill>
                  </a:tcPr>
                </a:tc>
                <a:tc>
                  <a:txBody>
                    <a:bodyPr/>
                    <a:lstStyle/>
                    <a:p>
                      <a:pPr algn="ctr"/>
                      <a:r>
                        <a:rPr sz="1000">
                          <a:solidFill>
                            <a:srgbClr val="0B2545"/>
                          </a:solidFill>
                        </a:rPr>
                        <a:t>0.0127</a:t>
                      </a:r>
                    </a:p>
                  </a:txBody>
                  <a:tcPr anchor="ctr">
                    <a:solidFill>
                      <a:srgbClr val="FFFFFF"/>
                    </a:solidFill>
                  </a:tcPr>
                </a:tc>
                <a:tc>
                  <a:txBody>
                    <a:bodyPr/>
                    <a:lstStyle/>
                    <a:p>
                      <a:pPr algn="ctr"/>
                      <a:r>
                        <a:rPr sz="1000">
                          <a:solidFill>
                            <a:srgbClr val="0B2545"/>
                          </a:solidFill>
                        </a:rPr>
                        <a:t>0.0816</a:t>
                      </a:r>
                    </a:p>
                  </a:txBody>
                  <a:tcPr anchor="ctr">
                    <a:solidFill>
                      <a:srgbClr val="FFFFFF"/>
                    </a:solidFill>
                  </a:tcPr>
                </a:tc>
              </a:tr>
            </a:tbl>
          </a:graphicData>
        </a:graphic>
      </p:graphicFrame>
      <p:sp>
        <p:nvSpPr>
          <p:cNvPr id="9" name="TextBox 8"/>
          <p:cNvSpPr txBox="1"/>
          <p:nvPr/>
        </p:nvSpPr>
        <p:spPr>
          <a:xfrm>
            <a:off x="8549640" y="3886200"/>
            <a:ext cx="3108960" cy="2194560"/>
          </a:xfrm>
          <a:prstGeom prst="rect">
            <a:avLst/>
          </a:prstGeom>
          <a:noFill/>
        </p:spPr>
        <p:txBody>
          <a:bodyPr wrap="square" lIns="0" rIns="0" tIns="0" bIns="0">
            <a:spAutoFit/>
          </a:bodyPr>
          <a:lstStyle/>
          <a:p>
            <a:pPr algn="l">
              <a:lnSpc>
                <a:spcPct val="130000"/>
              </a:lnSpc>
            </a:pPr>
            <a:r>
              <a:rPr sz="1000" b="0">
                <a:solidFill>
                  <a:srgbClr val="0B2545"/>
                </a:solidFill>
                <a:latin typeface="Calibri"/>
              </a:rPr>
              <a:t>Loss training turun tajam dari 0.4499 ke 0.0127.</a:t>
            </a:r>
          </a:p>
          <a:p>
            <a:pPr algn="l">
              <a:lnSpc>
                <a:spcPct val="130000"/>
              </a:lnSpc>
            </a:pPr>
            <a:r>
              <a:rPr sz="1000" b="0">
                <a:solidFill>
                  <a:srgbClr val="0B2545"/>
                </a:solidFill>
                <a:latin typeface="Calibri"/>
              </a:rPr>
              <a:t/>
            </a:r>
          </a:p>
          <a:p>
            <a:pPr algn="l">
              <a:lnSpc>
                <a:spcPct val="130000"/>
              </a:lnSpc>
            </a:pPr>
            <a:r>
              <a:rPr sz="1000" b="0">
                <a:solidFill>
                  <a:srgbClr val="0B2545"/>
                </a:solidFill>
                <a:latin typeface="Calibri"/>
              </a:rPr>
              <a:t>Loss validasi turun konsisten dari 0.3290 ke 0.0816.</a:t>
            </a:r>
          </a:p>
          <a:p>
            <a:pPr algn="l">
              <a:lnSpc>
                <a:spcPct val="130000"/>
              </a:lnSpc>
            </a:pPr>
            <a:r>
              <a:rPr sz="1000" b="0">
                <a:solidFill>
                  <a:srgbClr val="0B2545"/>
                </a:solidFill>
                <a:latin typeface="Calibri"/>
              </a:rPr>
              <a:t/>
            </a:r>
          </a:p>
          <a:p>
            <a:pPr algn="l">
              <a:lnSpc>
                <a:spcPct val="130000"/>
              </a:lnSpc>
            </a:pPr>
            <a:r>
              <a:rPr sz="1000" b="0">
                <a:solidFill>
                  <a:srgbClr val="0B2545"/>
                </a:solidFill>
                <a:latin typeface="Calibri"/>
              </a:rPr>
              <a:t>Kedua kurva menurun bersama, jadi tidak ada indikasi overfitting.</a:t>
            </a:r>
          </a:p>
        </p:txBody>
      </p:sp>
      <p:sp>
        <p:nvSpPr>
          <p:cNvPr id="10" name="TextBox 9"/>
          <p:cNvSpPr txBox="1"/>
          <p:nvPr/>
        </p:nvSpPr>
        <p:spPr>
          <a:xfrm>
            <a:off x="566928" y="6355080"/>
            <a:ext cx="7315200" cy="274320"/>
          </a:xfrm>
          <a:prstGeom prst="rect">
            <a:avLst/>
          </a:prstGeom>
          <a:noFill/>
        </p:spPr>
        <p:txBody>
          <a:bodyPr wrap="square" lIns="0" rIns="0" tIns="0" bIns="0">
            <a:spAutoFit/>
          </a:bodyPr>
          <a:lstStyle/>
          <a:p>
            <a:pPr algn="l">
              <a:lnSpc>
                <a:spcPct val="110000"/>
              </a:lnSpc>
            </a:pPr>
            <a:r>
              <a:rPr sz="1000" b="0">
                <a:solidFill>
                  <a:srgbClr val="5F6368"/>
                </a:solidFill>
                <a:latin typeface="Calibri"/>
              </a:rPr>
              <a:t>Assignment 1 - Single Layer Perceptron</a:t>
            </a:r>
          </a:p>
        </p:txBody>
      </p:sp>
      <p:sp>
        <p:nvSpPr>
          <p:cNvPr id="11" name="TextBox 10"/>
          <p:cNvSpPr txBox="1"/>
          <p:nvPr/>
        </p:nvSpPr>
        <p:spPr>
          <a:xfrm>
            <a:off x="10332720" y="6355080"/>
            <a:ext cx="1280160" cy="274320"/>
          </a:xfrm>
          <a:prstGeom prst="rect">
            <a:avLst/>
          </a:prstGeom>
          <a:noFill/>
        </p:spPr>
        <p:txBody>
          <a:bodyPr wrap="square" lIns="0" rIns="0" tIns="0" bIns="0">
            <a:spAutoFit/>
          </a:bodyPr>
          <a:lstStyle/>
          <a:p>
            <a:pPr algn="r">
              <a:lnSpc>
                <a:spcPct val="110000"/>
              </a:lnSpc>
            </a:pPr>
            <a:r>
              <a:rPr sz="1000" b="0">
                <a:solidFill>
                  <a:srgbClr val="5F6368"/>
                </a:solidFill>
                <a:latin typeface="Calibri"/>
              </a:rP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64240" cy="548640"/>
          </a:xfrm>
          <a:prstGeom prst="rect">
            <a:avLst/>
          </a:prstGeom>
          <a:noFill/>
        </p:spPr>
        <p:txBody>
          <a:bodyPr wrap="square" lIns="0" rIns="0" tIns="0" bIns="0">
            <a:spAutoFit/>
          </a:bodyPr>
          <a:lstStyle/>
          <a:p>
            <a:pPr algn="l">
              <a:lnSpc>
                <a:spcPct val="110000"/>
              </a:lnSpc>
            </a:pPr>
            <a:r>
              <a:rPr sz="2700" b="1">
                <a:solidFill>
                  <a:srgbClr val="0B2545"/>
                </a:solidFill>
                <a:latin typeface="Calibri"/>
              </a:rPr>
              <a:t>Loss Chart - dari Kode Python</a:t>
            </a:r>
          </a:p>
        </p:txBody>
      </p:sp>
      <p:sp>
        <p:nvSpPr>
          <p:cNvPr id="4" name="TextBox 3"/>
          <p:cNvSpPr txBox="1"/>
          <p:nvPr/>
        </p:nvSpPr>
        <p:spPr>
          <a:xfrm>
            <a:off x="566928" y="914400"/>
            <a:ext cx="11064240" cy="365760"/>
          </a:xfrm>
          <a:prstGeom prst="rect">
            <a:avLst/>
          </a:prstGeom>
          <a:noFill/>
        </p:spPr>
        <p:txBody>
          <a:bodyPr wrap="square" lIns="0" rIns="0" tIns="0" bIns="0">
            <a:spAutoFit/>
          </a:bodyPr>
          <a:lstStyle/>
          <a:p>
            <a:pPr algn="l">
              <a:lnSpc>
                <a:spcPct val="110000"/>
              </a:lnSpc>
            </a:pPr>
            <a:r>
              <a:rPr sz="1300" b="0">
                <a:solidFill>
                  <a:srgbClr val="5F6368"/>
                </a:solidFill>
                <a:latin typeface="Calibri"/>
              </a:rPr>
              <a:t>Learning rate 0.1  |  5 epoch  |  bobot awal 0.5  |  80 data training, 20 data validation</a:t>
            </a:r>
          </a:p>
        </p:txBody>
      </p:sp>
      <p:pic>
        <p:nvPicPr>
          <p:cNvPr id="5" name="Picture 4" descr="chart_loss_python.png"/>
          <p:cNvPicPr>
            <a:picLocks noChangeAspect="1"/>
          </p:cNvPicPr>
          <p:nvPr/>
        </p:nvPicPr>
        <p:blipFill>
          <a:blip r:embed="rId2"/>
          <a:stretch>
            <a:fillRect/>
          </a:stretch>
        </p:blipFill>
        <p:spPr>
          <a:xfrm>
            <a:off x="569467" y="1325880"/>
            <a:ext cx="7721600" cy="4343400"/>
          </a:xfrm>
          <a:prstGeom prst="rect">
            <a:avLst/>
          </a:prstGeom>
        </p:spPr>
      </p:pic>
      <p:sp>
        <p:nvSpPr>
          <p:cNvPr id="6" name="TextBox 5"/>
          <p:cNvSpPr txBox="1"/>
          <p:nvPr/>
        </p:nvSpPr>
        <p:spPr>
          <a:xfrm>
            <a:off x="566928" y="5806440"/>
            <a:ext cx="7726679" cy="411480"/>
          </a:xfrm>
          <a:prstGeom prst="rect">
            <a:avLst/>
          </a:prstGeom>
          <a:noFill/>
        </p:spPr>
        <p:txBody>
          <a:bodyPr wrap="square" lIns="0" rIns="0" tIns="0" bIns="0">
            <a:spAutoFit/>
          </a:bodyPr>
          <a:lstStyle/>
          <a:p>
            <a:pPr algn="l">
              <a:lnSpc>
                <a:spcPct val="125000"/>
              </a:lnSpc>
            </a:pPr>
            <a:r>
              <a:rPr sz="1000" b="0">
                <a:solidFill>
                  <a:srgbClr val="5F6368"/>
                </a:solidFill>
                <a:latin typeface="Calibri"/>
              </a:rPr>
              <a:t>Sumber: slp_iris.py, Mean Squared Error per epoch. Selisih terhadap spreadsheet nol sampai 10 angka di belakang koma.</a:t>
            </a:r>
          </a:p>
        </p:txBody>
      </p:sp>
      <p:sp>
        <p:nvSpPr>
          <p:cNvPr id="7" name="TextBox 6"/>
          <p:cNvSpPr txBox="1"/>
          <p:nvPr/>
        </p:nvSpPr>
        <p:spPr>
          <a:xfrm>
            <a:off x="8549640" y="1371600"/>
            <a:ext cx="3108960" cy="274320"/>
          </a:xfrm>
          <a:prstGeom prst="rect">
            <a:avLst/>
          </a:prstGeom>
          <a:noFill/>
        </p:spPr>
        <p:txBody>
          <a:bodyPr wrap="square" lIns="0" rIns="0" tIns="0" bIns="0">
            <a:spAutoFit/>
          </a:bodyPr>
          <a:lstStyle/>
          <a:p>
            <a:pPr algn="l">
              <a:lnSpc>
                <a:spcPct val="110000"/>
              </a:lnSpc>
            </a:pPr>
            <a:r>
              <a:rPr sz="1100" b="1">
                <a:solidFill>
                  <a:srgbClr val="1A73E8"/>
                </a:solidFill>
                <a:latin typeface="Calibri"/>
              </a:rPr>
              <a:t>NILAI PER EPOCH</a:t>
            </a:r>
          </a:p>
        </p:txBody>
      </p:sp>
      <p:graphicFrame>
        <p:nvGraphicFramePr>
          <p:cNvPr id="8" name="Table 7"/>
          <p:cNvGraphicFramePr>
            <a:graphicFrameLocks noGrp="1"/>
          </p:cNvGraphicFramePr>
          <p:nvPr/>
        </p:nvGraphicFramePr>
        <p:xfrm>
          <a:off x="8549640" y="1737360"/>
          <a:ext cx="3108960" cy="1920240"/>
        </p:xfrm>
        <a:graphic>
          <a:graphicData uri="http://schemas.openxmlformats.org/drawingml/2006/table">
            <a:tbl>
              <a:tblPr firstRow="1" bandRow="1">
                <a:tableStyleId>{5C22544A-7EE6-4342-B048-85BDC9FD1C3A}</a:tableStyleId>
              </a:tblPr>
              <a:tblGrid>
                <a:gridCol w="829056"/>
                <a:gridCol w="1139952"/>
                <a:gridCol w="1139952"/>
              </a:tblGrid>
              <a:tr h="320040">
                <a:tc>
                  <a:txBody>
                    <a:bodyPr/>
                    <a:lstStyle/>
                    <a:p>
                      <a:pPr algn="ctr"/>
                      <a:r>
                        <a:rPr sz="1100" b="1">
                          <a:solidFill>
                            <a:srgbClr val="FFFFFF"/>
                          </a:solidFill>
                        </a:rPr>
                        <a:t>Epoch</a:t>
                      </a:r>
                    </a:p>
                  </a:txBody>
                  <a:tcPr anchor="ctr">
                    <a:solidFill>
                      <a:srgbClr val="0B2545"/>
                    </a:solidFill>
                  </a:tcPr>
                </a:tc>
                <a:tc>
                  <a:txBody>
                    <a:bodyPr/>
                    <a:lstStyle/>
                    <a:p>
                      <a:pPr algn="ctr"/>
                      <a:r>
                        <a:rPr sz="1100" b="1">
                          <a:solidFill>
                            <a:srgbClr val="FFFFFF"/>
                          </a:solidFill>
                        </a:rPr>
                        <a:t>Train</a:t>
                      </a:r>
                    </a:p>
                  </a:txBody>
                  <a:tcPr anchor="ctr">
                    <a:solidFill>
                      <a:srgbClr val="0B2545"/>
                    </a:solidFill>
                  </a:tcPr>
                </a:tc>
                <a:tc>
                  <a:txBody>
                    <a:bodyPr/>
                    <a:lstStyle/>
                    <a:p>
                      <a:pPr algn="ctr"/>
                      <a:r>
                        <a:rPr sz="1100" b="1">
                          <a:solidFill>
                            <a:srgbClr val="FFFFFF"/>
                          </a:solidFill>
                        </a:rPr>
                        <a:t>Validation</a:t>
                      </a:r>
                    </a:p>
                  </a:txBody>
                  <a:tcPr anchor="ctr">
                    <a:solidFill>
                      <a:srgbClr val="0B2545"/>
                    </a:solidFill>
                  </a:tcPr>
                </a:tc>
              </a:tr>
              <a:tr h="320040">
                <a:tc>
                  <a:txBody>
                    <a:bodyPr/>
                    <a:lstStyle/>
                    <a:p>
                      <a:pPr algn="ctr"/>
                      <a:r>
                        <a:rPr sz="1000">
                          <a:solidFill>
                            <a:srgbClr val="0B2545"/>
                          </a:solidFill>
                        </a:rPr>
                        <a:t>1</a:t>
                      </a:r>
                    </a:p>
                  </a:txBody>
                  <a:tcPr anchor="ctr">
                    <a:solidFill>
                      <a:srgbClr val="FFFFFF"/>
                    </a:solidFill>
                  </a:tcPr>
                </a:tc>
                <a:tc>
                  <a:txBody>
                    <a:bodyPr/>
                    <a:lstStyle/>
                    <a:p>
                      <a:pPr algn="ctr"/>
                      <a:r>
                        <a:rPr sz="1000">
                          <a:solidFill>
                            <a:srgbClr val="0B2545"/>
                          </a:solidFill>
                        </a:rPr>
                        <a:t>0.4499</a:t>
                      </a:r>
                    </a:p>
                  </a:txBody>
                  <a:tcPr anchor="ctr">
                    <a:solidFill>
                      <a:srgbClr val="FFFFFF"/>
                    </a:solidFill>
                  </a:tcPr>
                </a:tc>
                <a:tc>
                  <a:txBody>
                    <a:bodyPr/>
                    <a:lstStyle/>
                    <a:p>
                      <a:pPr algn="ctr"/>
                      <a:r>
                        <a:rPr sz="1000">
                          <a:solidFill>
                            <a:srgbClr val="0B2545"/>
                          </a:solidFill>
                        </a:rPr>
                        <a:t>0.3290</a:t>
                      </a:r>
                    </a:p>
                  </a:txBody>
                  <a:tcPr anchor="ctr">
                    <a:solidFill>
                      <a:srgbClr val="FFFFFF"/>
                    </a:solidFill>
                  </a:tcPr>
                </a:tc>
              </a:tr>
              <a:tr h="320040">
                <a:tc>
                  <a:txBody>
                    <a:bodyPr/>
                    <a:lstStyle/>
                    <a:p>
                      <a:pPr algn="ctr"/>
                      <a:r>
                        <a:rPr sz="1000">
                          <a:solidFill>
                            <a:srgbClr val="0B2545"/>
                          </a:solidFill>
                        </a:rPr>
                        <a:t>2</a:t>
                      </a:r>
                    </a:p>
                  </a:txBody>
                  <a:tcPr anchor="ctr">
                    <a:solidFill>
                      <a:srgbClr val="F1F5F9"/>
                    </a:solidFill>
                  </a:tcPr>
                </a:tc>
                <a:tc>
                  <a:txBody>
                    <a:bodyPr/>
                    <a:lstStyle/>
                    <a:p>
                      <a:pPr algn="ctr"/>
                      <a:r>
                        <a:rPr sz="1000">
                          <a:solidFill>
                            <a:srgbClr val="0B2545"/>
                          </a:solidFill>
                        </a:rPr>
                        <a:t>0.0375</a:t>
                      </a:r>
                    </a:p>
                  </a:txBody>
                  <a:tcPr anchor="ctr">
                    <a:solidFill>
                      <a:srgbClr val="F1F5F9"/>
                    </a:solidFill>
                  </a:tcPr>
                </a:tc>
                <a:tc>
                  <a:txBody>
                    <a:bodyPr/>
                    <a:lstStyle/>
                    <a:p>
                      <a:pPr algn="ctr"/>
                      <a:r>
                        <a:rPr sz="1000">
                          <a:solidFill>
                            <a:srgbClr val="0B2545"/>
                          </a:solidFill>
                        </a:rPr>
                        <a:t>0.2473</a:t>
                      </a:r>
                    </a:p>
                  </a:txBody>
                  <a:tcPr anchor="ctr">
                    <a:solidFill>
                      <a:srgbClr val="F1F5F9"/>
                    </a:solidFill>
                  </a:tcPr>
                </a:tc>
              </a:tr>
              <a:tr h="320040">
                <a:tc>
                  <a:txBody>
                    <a:bodyPr/>
                    <a:lstStyle/>
                    <a:p>
                      <a:pPr algn="ctr"/>
                      <a:r>
                        <a:rPr sz="1000">
                          <a:solidFill>
                            <a:srgbClr val="0B2545"/>
                          </a:solidFill>
                        </a:rPr>
                        <a:t>3</a:t>
                      </a:r>
                    </a:p>
                  </a:txBody>
                  <a:tcPr anchor="ctr">
                    <a:solidFill>
                      <a:srgbClr val="FFFFFF"/>
                    </a:solidFill>
                  </a:tcPr>
                </a:tc>
                <a:tc>
                  <a:txBody>
                    <a:bodyPr/>
                    <a:lstStyle/>
                    <a:p>
                      <a:pPr algn="ctr"/>
                      <a:r>
                        <a:rPr sz="1000">
                          <a:solidFill>
                            <a:srgbClr val="0B2545"/>
                          </a:solidFill>
                        </a:rPr>
                        <a:t>0.0244</a:t>
                      </a:r>
                    </a:p>
                  </a:txBody>
                  <a:tcPr anchor="ctr">
                    <a:solidFill>
                      <a:srgbClr val="FFFFFF"/>
                    </a:solidFill>
                  </a:tcPr>
                </a:tc>
                <a:tc>
                  <a:txBody>
                    <a:bodyPr/>
                    <a:lstStyle/>
                    <a:p>
                      <a:pPr algn="ctr"/>
                      <a:r>
                        <a:rPr sz="1000">
                          <a:solidFill>
                            <a:srgbClr val="0B2545"/>
                          </a:solidFill>
                        </a:rPr>
                        <a:t>0.1759</a:t>
                      </a:r>
                    </a:p>
                  </a:txBody>
                  <a:tcPr anchor="ctr">
                    <a:solidFill>
                      <a:srgbClr val="FFFFFF"/>
                    </a:solidFill>
                  </a:tcPr>
                </a:tc>
              </a:tr>
              <a:tr h="320040">
                <a:tc>
                  <a:txBody>
                    <a:bodyPr/>
                    <a:lstStyle/>
                    <a:p>
                      <a:pPr algn="ctr"/>
                      <a:r>
                        <a:rPr sz="1000">
                          <a:solidFill>
                            <a:srgbClr val="0B2545"/>
                          </a:solidFill>
                        </a:rPr>
                        <a:t>4</a:t>
                      </a:r>
                    </a:p>
                  </a:txBody>
                  <a:tcPr anchor="ctr">
                    <a:solidFill>
                      <a:srgbClr val="F1F5F9"/>
                    </a:solidFill>
                  </a:tcPr>
                </a:tc>
                <a:tc>
                  <a:txBody>
                    <a:bodyPr/>
                    <a:lstStyle/>
                    <a:p>
                      <a:pPr algn="ctr"/>
                      <a:r>
                        <a:rPr sz="1000">
                          <a:solidFill>
                            <a:srgbClr val="0B2545"/>
                          </a:solidFill>
                        </a:rPr>
                        <a:t>0.0174</a:t>
                      </a:r>
                    </a:p>
                  </a:txBody>
                  <a:tcPr anchor="ctr">
                    <a:solidFill>
                      <a:srgbClr val="F1F5F9"/>
                    </a:solidFill>
                  </a:tcPr>
                </a:tc>
                <a:tc>
                  <a:txBody>
                    <a:bodyPr/>
                    <a:lstStyle/>
                    <a:p>
                      <a:pPr algn="ctr"/>
                      <a:r>
                        <a:rPr sz="1000">
                          <a:solidFill>
                            <a:srgbClr val="0B2545"/>
                          </a:solidFill>
                        </a:rPr>
                        <a:t>0.1194</a:t>
                      </a:r>
                    </a:p>
                  </a:txBody>
                  <a:tcPr anchor="ctr">
                    <a:solidFill>
                      <a:srgbClr val="F1F5F9"/>
                    </a:solidFill>
                  </a:tcPr>
                </a:tc>
              </a:tr>
              <a:tr h="320040">
                <a:tc>
                  <a:txBody>
                    <a:bodyPr/>
                    <a:lstStyle/>
                    <a:p>
                      <a:pPr algn="ctr"/>
                      <a:r>
                        <a:rPr sz="1000">
                          <a:solidFill>
                            <a:srgbClr val="0B2545"/>
                          </a:solidFill>
                        </a:rPr>
                        <a:t>5</a:t>
                      </a:r>
                    </a:p>
                  </a:txBody>
                  <a:tcPr anchor="ctr">
                    <a:solidFill>
                      <a:srgbClr val="FFFFFF"/>
                    </a:solidFill>
                  </a:tcPr>
                </a:tc>
                <a:tc>
                  <a:txBody>
                    <a:bodyPr/>
                    <a:lstStyle/>
                    <a:p>
                      <a:pPr algn="ctr"/>
                      <a:r>
                        <a:rPr sz="1000">
                          <a:solidFill>
                            <a:srgbClr val="0B2545"/>
                          </a:solidFill>
                        </a:rPr>
                        <a:t>0.0127</a:t>
                      </a:r>
                    </a:p>
                  </a:txBody>
                  <a:tcPr anchor="ctr">
                    <a:solidFill>
                      <a:srgbClr val="FFFFFF"/>
                    </a:solidFill>
                  </a:tcPr>
                </a:tc>
                <a:tc>
                  <a:txBody>
                    <a:bodyPr/>
                    <a:lstStyle/>
                    <a:p>
                      <a:pPr algn="ctr"/>
                      <a:r>
                        <a:rPr sz="1000">
                          <a:solidFill>
                            <a:srgbClr val="0B2545"/>
                          </a:solidFill>
                        </a:rPr>
                        <a:t>0.0816</a:t>
                      </a:r>
                    </a:p>
                  </a:txBody>
                  <a:tcPr anchor="ctr">
                    <a:solidFill>
                      <a:srgbClr val="FFFFFF"/>
                    </a:solidFill>
                  </a:tcPr>
                </a:tc>
              </a:tr>
            </a:tbl>
          </a:graphicData>
        </a:graphic>
      </p:graphicFrame>
      <p:sp>
        <p:nvSpPr>
          <p:cNvPr id="9" name="TextBox 8"/>
          <p:cNvSpPr txBox="1"/>
          <p:nvPr/>
        </p:nvSpPr>
        <p:spPr>
          <a:xfrm>
            <a:off x="8549640" y="3886200"/>
            <a:ext cx="3108960" cy="2194560"/>
          </a:xfrm>
          <a:prstGeom prst="rect">
            <a:avLst/>
          </a:prstGeom>
          <a:noFill/>
        </p:spPr>
        <p:txBody>
          <a:bodyPr wrap="square" lIns="0" rIns="0" tIns="0" bIns="0">
            <a:spAutoFit/>
          </a:bodyPr>
          <a:lstStyle/>
          <a:p>
            <a:pPr algn="l">
              <a:lnSpc>
                <a:spcPct val="130000"/>
              </a:lnSpc>
            </a:pPr>
            <a:r>
              <a:rPr sz="1000" b="0">
                <a:solidFill>
                  <a:srgbClr val="0B2545"/>
                </a:solidFill>
                <a:latin typeface="Calibri"/>
              </a:rPr>
              <a:t>Loss training turun tajam dari 0.4499 ke 0.0127.</a:t>
            </a:r>
          </a:p>
          <a:p>
            <a:pPr algn="l">
              <a:lnSpc>
                <a:spcPct val="130000"/>
              </a:lnSpc>
            </a:pPr>
            <a:r>
              <a:rPr sz="1000" b="0">
                <a:solidFill>
                  <a:srgbClr val="0B2545"/>
                </a:solidFill>
                <a:latin typeface="Calibri"/>
              </a:rPr>
              <a:t/>
            </a:r>
          </a:p>
          <a:p>
            <a:pPr algn="l">
              <a:lnSpc>
                <a:spcPct val="130000"/>
              </a:lnSpc>
            </a:pPr>
            <a:r>
              <a:rPr sz="1000" b="0">
                <a:solidFill>
                  <a:srgbClr val="0B2545"/>
                </a:solidFill>
                <a:latin typeface="Calibri"/>
              </a:rPr>
              <a:t>Loss validasi turun konsisten dari 0.3290 ke 0.0816.</a:t>
            </a:r>
          </a:p>
          <a:p>
            <a:pPr algn="l">
              <a:lnSpc>
                <a:spcPct val="130000"/>
              </a:lnSpc>
            </a:pPr>
            <a:r>
              <a:rPr sz="1000" b="0">
                <a:solidFill>
                  <a:srgbClr val="0B2545"/>
                </a:solidFill>
                <a:latin typeface="Calibri"/>
              </a:rPr>
              <a:t/>
            </a:r>
          </a:p>
          <a:p>
            <a:pPr algn="l">
              <a:lnSpc>
                <a:spcPct val="130000"/>
              </a:lnSpc>
            </a:pPr>
            <a:r>
              <a:rPr sz="1000" b="0">
                <a:solidFill>
                  <a:srgbClr val="0B2545"/>
                </a:solidFill>
                <a:latin typeface="Calibri"/>
              </a:rPr>
              <a:t>Kedua kurva menurun bersama, jadi tidak ada indikasi overfitting.</a:t>
            </a:r>
          </a:p>
          <a:p>
            <a:pPr algn="l">
              <a:lnSpc>
                <a:spcPct val="130000"/>
              </a:lnSpc>
            </a:pPr>
            <a:r>
              <a:rPr sz="1000" b="0">
                <a:solidFill>
                  <a:srgbClr val="0B2545"/>
                </a:solidFill>
                <a:latin typeface="Calibri"/>
              </a:rPr>
              <a:t>Angka identik dengan hasil Google Sheets.</a:t>
            </a:r>
          </a:p>
        </p:txBody>
      </p:sp>
      <p:sp>
        <p:nvSpPr>
          <p:cNvPr id="10" name="TextBox 9"/>
          <p:cNvSpPr txBox="1"/>
          <p:nvPr/>
        </p:nvSpPr>
        <p:spPr>
          <a:xfrm>
            <a:off x="566928" y="6355080"/>
            <a:ext cx="7315200" cy="274320"/>
          </a:xfrm>
          <a:prstGeom prst="rect">
            <a:avLst/>
          </a:prstGeom>
          <a:noFill/>
        </p:spPr>
        <p:txBody>
          <a:bodyPr wrap="square" lIns="0" rIns="0" tIns="0" bIns="0">
            <a:spAutoFit/>
          </a:bodyPr>
          <a:lstStyle/>
          <a:p>
            <a:pPr algn="l">
              <a:lnSpc>
                <a:spcPct val="110000"/>
              </a:lnSpc>
            </a:pPr>
            <a:r>
              <a:rPr sz="1000" b="0">
                <a:solidFill>
                  <a:srgbClr val="5F6368"/>
                </a:solidFill>
                <a:latin typeface="Calibri"/>
              </a:rPr>
              <a:t>Assignment 1 - Single Layer Perceptron</a:t>
            </a:r>
          </a:p>
        </p:txBody>
      </p:sp>
      <p:sp>
        <p:nvSpPr>
          <p:cNvPr id="11" name="TextBox 10"/>
          <p:cNvSpPr txBox="1"/>
          <p:nvPr/>
        </p:nvSpPr>
        <p:spPr>
          <a:xfrm>
            <a:off x="10332720" y="6355080"/>
            <a:ext cx="1280160" cy="274320"/>
          </a:xfrm>
          <a:prstGeom prst="rect">
            <a:avLst/>
          </a:prstGeom>
          <a:noFill/>
        </p:spPr>
        <p:txBody>
          <a:bodyPr wrap="square" lIns="0" rIns="0" tIns="0" bIns="0">
            <a:spAutoFit/>
          </a:bodyPr>
          <a:lstStyle/>
          <a:p>
            <a:pPr algn="r">
              <a:lnSpc>
                <a:spcPct val="110000"/>
              </a:lnSpc>
            </a:pPr>
            <a:r>
              <a:rPr sz="1000" b="0">
                <a:solidFill>
                  <a:srgbClr val="5F6368"/>
                </a:solidFill>
                <a:latin typeface="Calibri"/>
              </a:rP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64240" cy="548640"/>
          </a:xfrm>
          <a:prstGeom prst="rect">
            <a:avLst/>
          </a:prstGeom>
          <a:noFill/>
        </p:spPr>
        <p:txBody>
          <a:bodyPr wrap="square" lIns="0" rIns="0" tIns="0" bIns="0">
            <a:spAutoFit/>
          </a:bodyPr>
          <a:lstStyle/>
          <a:p>
            <a:pPr algn="l">
              <a:lnSpc>
                <a:spcPct val="110000"/>
              </a:lnSpc>
            </a:pPr>
            <a:r>
              <a:rPr sz="2700" b="1">
                <a:solidFill>
                  <a:srgbClr val="0B2545"/>
                </a:solidFill>
                <a:latin typeface="Calibri"/>
              </a:rPr>
              <a:t>URL Google Sheets &amp; GitHub</a:t>
            </a:r>
          </a:p>
        </p:txBody>
      </p:sp>
      <p:sp>
        <p:nvSpPr>
          <p:cNvPr id="4" name="TextBox 3"/>
          <p:cNvSpPr txBox="1"/>
          <p:nvPr/>
        </p:nvSpPr>
        <p:spPr>
          <a:xfrm>
            <a:off x="566928" y="914400"/>
            <a:ext cx="11064240" cy="365760"/>
          </a:xfrm>
          <a:prstGeom prst="rect">
            <a:avLst/>
          </a:prstGeom>
          <a:noFill/>
        </p:spPr>
        <p:txBody>
          <a:bodyPr wrap="square" lIns="0" rIns="0" tIns="0" bIns="0">
            <a:spAutoFit/>
          </a:bodyPr>
          <a:lstStyle/>
          <a:p>
            <a:pPr algn="l">
              <a:lnSpc>
                <a:spcPct val="110000"/>
              </a:lnSpc>
            </a:pPr>
            <a:r>
              <a:rPr sz="1300" b="0">
                <a:solidFill>
                  <a:srgbClr val="5F6368"/>
                </a:solidFill>
                <a:latin typeface="Calibri"/>
              </a:rPr>
              <a:t>Tautan pengerjaan spreadsheet dan repositori kode Python</a:t>
            </a:r>
          </a:p>
        </p:txBody>
      </p:sp>
      <p:sp>
        <p:nvSpPr>
          <p:cNvPr id="5" name="Rectangle 4"/>
          <p:cNvSpPr/>
          <p:nvPr/>
        </p:nvSpPr>
        <p:spPr>
          <a:xfrm>
            <a:off x="566928" y="1600200"/>
            <a:ext cx="11064240" cy="16002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600200"/>
            <a:ext cx="82296" cy="160020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01368"/>
            <a:ext cx="10424160" cy="274320"/>
          </a:xfrm>
          <a:prstGeom prst="rect">
            <a:avLst/>
          </a:prstGeom>
          <a:noFill/>
        </p:spPr>
        <p:txBody>
          <a:bodyPr wrap="square" lIns="0" rIns="0" tIns="0" bIns="0">
            <a:spAutoFit/>
          </a:bodyPr>
          <a:lstStyle/>
          <a:p>
            <a:pPr algn="l">
              <a:lnSpc>
                <a:spcPct val="110000"/>
              </a:lnSpc>
            </a:pPr>
            <a:r>
              <a:rPr sz="1200" b="1">
                <a:solidFill>
                  <a:srgbClr val="1A73E8"/>
                </a:solidFill>
                <a:latin typeface="Calibri"/>
              </a:rPr>
              <a:t>GOOGLE SHEETS</a:t>
            </a:r>
          </a:p>
        </p:txBody>
      </p:sp>
      <p:sp>
        <p:nvSpPr>
          <p:cNvPr id="8" name="TextBox 7"/>
          <p:cNvSpPr txBox="1"/>
          <p:nvPr/>
        </p:nvSpPr>
        <p:spPr>
          <a:xfrm>
            <a:off x="914400" y="2130552"/>
            <a:ext cx="10424160" cy="274320"/>
          </a:xfrm>
          <a:prstGeom prst="rect">
            <a:avLst/>
          </a:prstGeom>
          <a:noFill/>
        </p:spPr>
        <p:txBody>
          <a:bodyPr wrap="square" lIns="0" rIns="0" tIns="0" bIns="0">
            <a:spAutoFit/>
          </a:bodyPr>
          <a:lstStyle/>
          <a:p>
            <a:pPr algn="l">
              <a:lnSpc>
                <a:spcPct val="110000"/>
              </a:lnSpc>
            </a:pPr>
            <a:r>
              <a:rPr sz="1300" b="0">
                <a:solidFill>
                  <a:srgbClr val="5F6368"/>
                </a:solidFill>
                <a:latin typeface="Calibri"/>
              </a:rPr>
              <a:t>Spreadsheet SLP (training, validation, chart)</a:t>
            </a:r>
          </a:p>
        </p:txBody>
      </p:sp>
      <p:sp>
        <p:nvSpPr>
          <p:cNvPr id="9" name="TextBox 8"/>
          <p:cNvSpPr txBox="1"/>
          <p:nvPr/>
        </p:nvSpPr>
        <p:spPr>
          <a:xfrm>
            <a:off x="914400" y="2532888"/>
            <a:ext cx="10424160" cy="457200"/>
          </a:xfrm>
          <a:prstGeom prst="rect">
            <a:avLst/>
          </a:prstGeom>
          <a:noFill/>
        </p:spPr>
        <p:txBody>
          <a:bodyPr wrap="square" lIns="0" rIns="0" tIns="0" bIns="0">
            <a:spAutoFit/>
          </a:bodyPr>
          <a:lstStyle/>
          <a:p>
            <a:pPr algn="l">
              <a:lnSpc>
                <a:spcPct val="110000"/>
              </a:lnSpc>
            </a:pPr>
            <a:r>
              <a:rPr sz="1300" b="1">
                <a:solidFill>
                  <a:srgbClr val="0B2545"/>
                </a:solidFill>
                <a:latin typeface="Calibri"/>
              </a:rPr>
              <a:t>URL gsheet Anda</a:t>
            </a:r>
          </a:p>
        </p:txBody>
      </p:sp>
      <p:sp>
        <p:nvSpPr>
          <p:cNvPr id="10" name="Rectangle 9"/>
          <p:cNvSpPr/>
          <p:nvPr/>
        </p:nvSpPr>
        <p:spPr>
          <a:xfrm>
            <a:off x="566928" y="3474719"/>
            <a:ext cx="11064240" cy="16002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474719"/>
            <a:ext cx="82296" cy="160020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675887"/>
            <a:ext cx="10424160" cy="274320"/>
          </a:xfrm>
          <a:prstGeom prst="rect">
            <a:avLst/>
          </a:prstGeom>
          <a:noFill/>
        </p:spPr>
        <p:txBody>
          <a:bodyPr wrap="square" lIns="0" rIns="0" tIns="0" bIns="0">
            <a:spAutoFit/>
          </a:bodyPr>
          <a:lstStyle/>
          <a:p>
            <a:pPr algn="l">
              <a:lnSpc>
                <a:spcPct val="110000"/>
              </a:lnSpc>
            </a:pPr>
            <a:r>
              <a:rPr sz="1200" b="1">
                <a:solidFill>
                  <a:srgbClr val="1A73E8"/>
                </a:solidFill>
                <a:latin typeface="Calibri"/>
              </a:rPr>
              <a:t>GITHUB</a:t>
            </a:r>
          </a:p>
        </p:txBody>
      </p:sp>
      <p:sp>
        <p:nvSpPr>
          <p:cNvPr id="13" name="TextBox 12"/>
          <p:cNvSpPr txBox="1"/>
          <p:nvPr/>
        </p:nvSpPr>
        <p:spPr>
          <a:xfrm>
            <a:off x="914400" y="4005071"/>
            <a:ext cx="10424160" cy="274320"/>
          </a:xfrm>
          <a:prstGeom prst="rect">
            <a:avLst/>
          </a:prstGeom>
          <a:noFill/>
        </p:spPr>
        <p:txBody>
          <a:bodyPr wrap="square" lIns="0" rIns="0" tIns="0" bIns="0">
            <a:spAutoFit/>
          </a:bodyPr>
          <a:lstStyle/>
          <a:p>
            <a:pPr algn="l">
              <a:lnSpc>
                <a:spcPct val="110000"/>
              </a:lnSpc>
            </a:pPr>
            <a:r>
              <a:rPr sz="1300" b="0">
                <a:solidFill>
                  <a:srgbClr val="5F6368"/>
                </a:solidFill>
                <a:latin typeface="Calibri"/>
              </a:rPr>
              <a:t>Kode Python SLP beserta dataset dan grafik</a:t>
            </a:r>
          </a:p>
        </p:txBody>
      </p:sp>
      <p:sp>
        <p:nvSpPr>
          <p:cNvPr id="14" name="TextBox 13"/>
          <p:cNvSpPr txBox="1"/>
          <p:nvPr/>
        </p:nvSpPr>
        <p:spPr>
          <a:xfrm>
            <a:off x="914400" y="4407407"/>
            <a:ext cx="10424160" cy="457200"/>
          </a:xfrm>
          <a:prstGeom prst="rect">
            <a:avLst/>
          </a:prstGeom>
          <a:noFill/>
        </p:spPr>
        <p:txBody>
          <a:bodyPr wrap="square" lIns="0" rIns="0" tIns="0" bIns="0">
            <a:spAutoFit/>
          </a:bodyPr>
          <a:lstStyle/>
          <a:p>
            <a:pPr algn="l">
              <a:lnSpc>
                <a:spcPct val="110000"/>
              </a:lnSpc>
            </a:pPr>
            <a:r>
              <a:rPr sz="1300" b="1">
                <a:solidFill>
                  <a:srgbClr val="0B2545"/>
                </a:solidFill>
                <a:latin typeface="Calibri"/>
              </a:rPr>
              <a:t>https://github.com/muhammadfikryrizal-coder</a:t>
            </a:r>
          </a:p>
        </p:txBody>
      </p:sp>
      <p:sp>
        <p:nvSpPr>
          <p:cNvPr id="15" name="TextBox 14"/>
          <p:cNvSpPr txBox="1"/>
          <p:nvPr/>
        </p:nvSpPr>
        <p:spPr>
          <a:xfrm>
            <a:off x="566928" y="5440680"/>
            <a:ext cx="11064240" cy="731520"/>
          </a:xfrm>
          <a:prstGeom prst="rect">
            <a:avLst/>
          </a:prstGeom>
          <a:noFill/>
        </p:spPr>
        <p:txBody>
          <a:bodyPr wrap="square" lIns="0" rIns="0" tIns="0" bIns="0">
            <a:spAutoFit/>
          </a:bodyPr>
          <a:lstStyle/>
          <a:p>
            <a:pPr algn="l">
              <a:lnSpc>
                <a:spcPct val="130000"/>
              </a:lnSpc>
            </a:pPr>
            <a:r>
              <a:rPr sz="1100" b="0">
                <a:solidFill>
                  <a:srgbClr val="5F6368"/>
                </a:solidFill>
                <a:latin typeface="Calibri"/>
              </a:rPr>
              <a:t>Isi repositori GitHub:  slp_iris.py  |  iris.csv  |  build_slp_spreadsheet.py  |  make_charts_gsheet.py  |  slp_history.csv  |  README.md</a:t>
            </a:r>
          </a:p>
        </p:txBody>
      </p:sp>
      <p:sp>
        <p:nvSpPr>
          <p:cNvPr id="16" name="TextBox 15"/>
          <p:cNvSpPr txBox="1"/>
          <p:nvPr/>
        </p:nvSpPr>
        <p:spPr>
          <a:xfrm>
            <a:off x="566928" y="6355080"/>
            <a:ext cx="7315200" cy="274320"/>
          </a:xfrm>
          <a:prstGeom prst="rect">
            <a:avLst/>
          </a:prstGeom>
          <a:noFill/>
        </p:spPr>
        <p:txBody>
          <a:bodyPr wrap="square" lIns="0" rIns="0" tIns="0" bIns="0">
            <a:spAutoFit/>
          </a:bodyPr>
          <a:lstStyle/>
          <a:p>
            <a:pPr algn="l">
              <a:lnSpc>
                <a:spcPct val="110000"/>
              </a:lnSpc>
            </a:pPr>
            <a:r>
              <a:rPr sz="1000" b="0">
                <a:solidFill>
                  <a:srgbClr val="5F6368"/>
                </a:solidFill>
                <a:latin typeface="Calibri"/>
              </a:rPr>
              <a:t>Assignment 1 - Single Layer Perceptron</a:t>
            </a:r>
          </a:p>
        </p:txBody>
      </p:sp>
      <p:sp>
        <p:nvSpPr>
          <p:cNvPr id="17" name="TextBox 16"/>
          <p:cNvSpPr txBox="1"/>
          <p:nvPr/>
        </p:nvSpPr>
        <p:spPr>
          <a:xfrm>
            <a:off x="10332720" y="6355080"/>
            <a:ext cx="1280160" cy="274320"/>
          </a:xfrm>
          <a:prstGeom prst="rect">
            <a:avLst/>
          </a:prstGeom>
          <a:noFill/>
        </p:spPr>
        <p:txBody>
          <a:bodyPr wrap="square" lIns="0" rIns="0" tIns="0" bIns="0">
            <a:spAutoFit/>
          </a:bodyPr>
          <a:lstStyle/>
          <a:p>
            <a:pPr algn="r">
              <a:lnSpc>
                <a:spcPct val="110000"/>
              </a:lnSpc>
            </a:pPr>
            <a:r>
              <a:rPr sz="1000" b="0">
                <a:solidFill>
                  <a:srgbClr val="5F6368"/>
                </a:solidFill>
                <a:latin typeface="Calibri"/>
              </a:rP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64240" cy="548640"/>
          </a:xfrm>
          <a:prstGeom prst="rect">
            <a:avLst/>
          </a:prstGeom>
          <a:noFill/>
        </p:spPr>
        <p:txBody>
          <a:bodyPr wrap="square" lIns="0" rIns="0" tIns="0" bIns="0">
            <a:spAutoFit/>
          </a:bodyPr>
          <a:lstStyle/>
          <a:p>
            <a:pPr algn="l">
              <a:lnSpc>
                <a:spcPct val="110000"/>
              </a:lnSpc>
            </a:pPr>
            <a:r>
              <a:rPr sz="2700" b="1">
                <a:solidFill>
                  <a:srgbClr val="0B2545"/>
                </a:solidFill>
                <a:latin typeface="Calibri"/>
              </a:rPr>
              <a:t>References</a:t>
            </a:r>
          </a:p>
        </p:txBody>
      </p:sp>
      <p:sp>
        <p:nvSpPr>
          <p:cNvPr id="4" name="TextBox 3"/>
          <p:cNvSpPr txBox="1"/>
          <p:nvPr/>
        </p:nvSpPr>
        <p:spPr>
          <a:xfrm>
            <a:off x="566928" y="914400"/>
            <a:ext cx="11064240" cy="365760"/>
          </a:xfrm>
          <a:prstGeom prst="rect">
            <a:avLst/>
          </a:prstGeom>
          <a:noFill/>
        </p:spPr>
        <p:txBody>
          <a:bodyPr wrap="square" lIns="0" rIns="0" tIns="0" bIns="0">
            <a:spAutoFit/>
          </a:bodyPr>
          <a:lstStyle/>
          <a:p>
            <a:pPr algn="l">
              <a:lnSpc>
                <a:spcPct val="110000"/>
              </a:lnSpc>
            </a:pPr>
            <a:r>
              <a:rPr sz="1300" b="0">
                <a:solidFill>
                  <a:srgbClr val="5F6368"/>
                </a:solidFill>
                <a:latin typeface="Calibri"/>
              </a:rPr>
              <a:t>Sumber rujukan teori dan data</a:t>
            </a:r>
          </a:p>
        </p:txBody>
      </p:sp>
      <p:sp>
        <p:nvSpPr>
          <p:cNvPr id="5" name="Rectangle 4"/>
          <p:cNvSpPr/>
          <p:nvPr/>
        </p:nvSpPr>
        <p:spPr>
          <a:xfrm>
            <a:off x="566928" y="1481328"/>
            <a:ext cx="274320" cy="27432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08760"/>
            <a:ext cx="274320" cy="274320"/>
          </a:xfrm>
          <a:prstGeom prst="rect">
            <a:avLst/>
          </a:prstGeom>
          <a:noFill/>
        </p:spPr>
        <p:txBody>
          <a:bodyPr wrap="square" lIns="0" rIns="0" tIns="0" bIns="0">
            <a:spAutoFit/>
          </a:bodyPr>
          <a:lstStyle/>
          <a:p>
            <a:pPr algn="ctr">
              <a:lnSpc>
                <a:spcPct val="110000"/>
              </a:lnSpc>
            </a:pPr>
            <a:r>
              <a:rPr sz="1100" b="1">
                <a:solidFill>
                  <a:srgbClr val="FFFFFF"/>
                </a:solidFill>
                <a:latin typeface="Calibri"/>
              </a:rPr>
              <a:t>1</a:t>
            </a:r>
          </a:p>
        </p:txBody>
      </p:sp>
      <p:sp>
        <p:nvSpPr>
          <p:cNvPr id="7" name="TextBox 6"/>
          <p:cNvSpPr txBox="1"/>
          <p:nvPr/>
        </p:nvSpPr>
        <p:spPr>
          <a:xfrm>
            <a:off x="1024128" y="1481328"/>
            <a:ext cx="10515600" cy="566928"/>
          </a:xfrm>
          <a:prstGeom prst="rect">
            <a:avLst/>
          </a:prstGeom>
          <a:noFill/>
        </p:spPr>
        <p:txBody>
          <a:bodyPr wrap="square" lIns="0" rIns="0" tIns="0" bIns="0">
            <a:spAutoFit/>
          </a:bodyPr>
          <a:lstStyle/>
          <a:p>
            <a:pPr algn="l">
              <a:lnSpc>
                <a:spcPct val="120000"/>
              </a:lnSpc>
            </a:pPr>
            <a:r>
              <a:rPr sz="1200" b="0">
                <a:solidFill>
                  <a:srgbClr val="0B2545"/>
                </a:solidFill>
                <a:latin typeface="Calibri"/>
              </a:rPr>
              <a:t>Rosenblatt, F. (1958). The perceptron: A probabilistic model for information storage and organization in the brain. Psychological Review, 65(6), 386-408.</a:t>
            </a:r>
          </a:p>
        </p:txBody>
      </p:sp>
      <p:sp>
        <p:nvSpPr>
          <p:cNvPr id="8" name="Rectangle 7"/>
          <p:cNvSpPr/>
          <p:nvPr/>
        </p:nvSpPr>
        <p:spPr>
          <a:xfrm>
            <a:off x="566928" y="2130552"/>
            <a:ext cx="274320" cy="27432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157984"/>
            <a:ext cx="274320" cy="274320"/>
          </a:xfrm>
          <a:prstGeom prst="rect">
            <a:avLst/>
          </a:prstGeom>
          <a:noFill/>
        </p:spPr>
        <p:txBody>
          <a:bodyPr wrap="square" lIns="0" rIns="0" tIns="0" bIns="0">
            <a:spAutoFit/>
          </a:bodyPr>
          <a:lstStyle/>
          <a:p>
            <a:pPr algn="ctr">
              <a:lnSpc>
                <a:spcPct val="110000"/>
              </a:lnSpc>
            </a:pPr>
            <a:r>
              <a:rPr sz="1100" b="1">
                <a:solidFill>
                  <a:srgbClr val="FFFFFF"/>
                </a:solidFill>
                <a:latin typeface="Calibri"/>
              </a:rPr>
              <a:t>2</a:t>
            </a:r>
          </a:p>
        </p:txBody>
      </p:sp>
      <p:sp>
        <p:nvSpPr>
          <p:cNvPr id="10" name="TextBox 9"/>
          <p:cNvSpPr txBox="1"/>
          <p:nvPr/>
        </p:nvSpPr>
        <p:spPr>
          <a:xfrm>
            <a:off x="1024128" y="2130552"/>
            <a:ext cx="10515600" cy="566928"/>
          </a:xfrm>
          <a:prstGeom prst="rect">
            <a:avLst/>
          </a:prstGeom>
          <a:noFill/>
        </p:spPr>
        <p:txBody>
          <a:bodyPr wrap="square" lIns="0" rIns="0" tIns="0" bIns="0">
            <a:spAutoFit/>
          </a:bodyPr>
          <a:lstStyle/>
          <a:p>
            <a:pPr algn="l">
              <a:lnSpc>
                <a:spcPct val="120000"/>
              </a:lnSpc>
            </a:pPr>
            <a:r>
              <a:rPr sz="1200" b="0">
                <a:solidFill>
                  <a:srgbClr val="0B2545"/>
                </a:solidFill>
                <a:latin typeface="Calibri"/>
              </a:rPr>
              <a:t>McCulloch, W. S., &amp; Pitts, W. (1943). A logical calculus of the ideas immanent in nervous activity. The Bulletin of Mathematical Biophysics, 5(4), 115-133.</a:t>
            </a:r>
          </a:p>
        </p:txBody>
      </p:sp>
      <p:sp>
        <p:nvSpPr>
          <p:cNvPr id="11" name="Rectangle 10"/>
          <p:cNvSpPr/>
          <p:nvPr/>
        </p:nvSpPr>
        <p:spPr>
          <a:xfrm>
            <a:off x="566928" y="2779776"/>
            <a:ext cx="274320" cy="27432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807208"/>
            <a:ext cx="274320" cy="274320"/>
          </a:xfrm>
          <a:prstGeom prst="rect">
            <a:avLst/>
          </a:prstGeom>
          <a:noFill/>
        </p:spPr>
        <p:txBody>
          <a:bodyPr wrap="square" lIns="0" rIns="0" tIns="0" bIns="0">
            <a:spAutoFit/>
          </a:bodyPr>
          <a:lstStyle/>
          <a:p>
            <a:pPr algn="ctr">
              <a:lnSpc>
                <a:spcPct val="110000"/>
              </a:lnSpc>
            </a:pPr>
            <a:r>
              <a:rPr sz="1100" b="1">
                <a:solidFill>
                  <a:srgbClr val="FFFFFF"/>
                </a:solidFill>
                <a:latin typeface="Calibri"/>
              </a:rPr>
              <a:t>3</a:t>
            </a:r>
          </a:p>
        </p:txBody>
      </p:sp>
      <p:sp>
        <p:nvSpPr>
          <p:cNvPr id="13" name="TextBox 12"/>
          <p:cNvSpPr txBox="1"/>
          <p:nvPr/>
        </p:nvSpPr>
        <p:spPr>
          <a:xfrm>
            <a:off x="1024128" y="2779776"/>
            <a:ext cx="10515600" cy="566928"/>
          </a:xfrm>
          <a:prstGeom prst="rect">
            <a:avLst/>
          </a:prstGeom>
          <a:noFill/>
        </p:spPr>
        <p:txBody>
          <a:bodyPr wrap="square" lIns="0" rIns="0" tIns="0" bIns="0">
            <a:spAutoFit/>
          </a:bodyPr>
          <a:lstStyle/>
          <a:p>
            <a:pPr algn="l">
              <a:lnSpc>
                <a:spcPct val="120000"/>
              </a:lnSpc>
            </a:pPr>
            <a:r>
              <a:rPr sz="1200" b="0">
                <a:solidFill>
                  <a:srgbClr val="0B2545"/>
                </a:solidFill>
                <a:latin typeface="Calibri"/>
              </a:rPr>
              <a:t>Rumelhart, D. E., Hinton, G. E., &amp; Williams, R. J. (1986). Learning representations by back-propagating errors. Nature, 323, 533-536.</a:t>
            </a:r>
          </a:p>
        </p:txBody>
      </p:sp>
      <p:sp>
        <p:nvSpPr>
          <p:cNvPr id="14" name="Rectangle 13"/>
          <p:cNvSpPr/>
          <p:nvPr/>
        </p:nvSpPr>
        <p:spPr>
          <a:xfrm>
            <a:off x="566928" y="3429000"/>
            <a:ext cx="274320" cy="27432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456432"/>
            <a:ext cx="274320" cy="274320"/>
          </a:xfrm>
          <a:prstGeom prst="rect">
            <a:avLst/>
          </a:prstGeom>
          <a:noFill/>
        </p:spPr>
        <p:txBody>
          <a:bodyPr wrap="square" lIns="0" rIns="0" tIns="0" bIns="0">
            <a:spAutoFit/>
          </a:bodyPr>
          <a:lstStyle/>
          <a:p>
            <a:pPr algn="ctr">
              <a:lnSpc>
                <a:spcPct val="110000"/>
              </a:lnSpc>
            </a:pPr>
            <a:r>
              <a:rPr sz="1100" b="1">
                <a:solidFill>
                  <a:srgbClr val="FFFFFF"/>
                </a:solidFill>
                <a:latin typeface="Calibri"/>
              </a:rPr>
              <a:t>4</a:t>
            </a:r>
          </a:p>
        </p:txBody>
      </p:sp>
      <p:sp>
        <p:nvSpPr>
          <p:cNvPr id="16" name="TextBox 15"/>
          <p:cNvSpPr txBox="1"/>
          <p:nvPr/>
        </p:nvSpPr>
        <p:spPr>
          <a:xfrm>
            <a:off x="1024128" y="3429000"/>
            <a:ext cx="10515600" cy="566928"/>
          </a:xfrm>
          <a:prstGeom prst="rect">
            <a:avLst/>
          </a:prstGeom>
          <a:noFill/>
        </p:spPr>
        <p:txBody>
          <a:bodyPr wrap="square" lIns="0" rIns="0" tIns="0" bIns="0">
            <a:spAutoFit/>
          </a:bodyPr>
          <a:lstStyle/>
          <a:p>
            <a:pPr algn="l">
              <a:lnSpc>
                <a:spcPct val="120000"/>
              </a:lnSpc>
            </a:pPr>
            <a:r>
              <a:rPr sz="1200" b="0">
                <a:solidFill>
                  <a:srgbClr val="0B2545"/>
                </a:solidFill>
                <a:latin typeface="Calibri"/>
              </a:rPr>
              <a:t>Fisher, R. A. (1936). The use of multiple measurements in taxonomic problems. Annals of Eugenics, 7(2), 179-188.</a:t>
            </a:r>
          </a:p>
        </p:txBody>
      </p:sp>
      <p:sp>
        <p:nvSpPr>
          <p:cNvPr id="17" name="Rectangle 16"/>
          <p:cNvSpPr/>
          <p:nvPr/>
        </p:nvSpPr>
        <p:spPr>
          <a:xfrm>
            <a:off x="566928" y="4078224"/>
            <a:ext cx="274320" cy="27432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105656"/>
            <a:ext cx="274320" cy="274320"/>
          </a:xfrm>
          <a:prstGeom prst="rect">
            <a:avLst/>
          </a:prstGeom>
          <a:noFill/>
        </p:spPr>
        <p:txBody>
          <a:bodyPr wrap="square" lIns="0" rIns="0" tIns="0" bIns="0">
            <a:spAutoFit/>
          </a:bodyPr>
          <a:lstStyle/>
          <a:p>
            <a:pPr algn="ctr">
              <a:lnSpc>
                <a:spcPct val="110000"/>
              </a:lnSpc>
            </a:pPr>
            <a:r>
              <a:rPr sz="1100" b="1">
                <a:solidFill>
                  <a:srgbClr val="FFFFFF"/>
                </a:solidFill>
                <a:latin typeface="Calibri"/>
              </a:rPr>
              <a:t>5</a:t>
            </a:r>
          </a:p>
        </p:txBody>
      </p:sp>
      <p:sp>
        <p:nvSpPr>
          <p:cNvPr id="19" name="TextBox 18"/>
          <p:cNvSpPr txBox="1"/>
          <p:nvPr/>
        </p:nvSpPr>
        <p:spPr>
          <a:xfrm>
            <a:off x="1024128" y="4078224"/>
            <a:ext cx="10515600" cy="566928"/>
          </a:xfrm>
          <a:prstGeom prst="rect">
            <a:avLst/>
          </a:prstGeom>
          <a:noFill/>
        </p:spPr>
        <p:txBody>
          <a:bodyPr wrap="square" lIns="0" rIns="0" tIns="0" bIns="0">
            <a:spAutoFit/>
          </a:bodyPr>
          <a:lstStyle/>
          <a:p>
            <a:pPr algn="l">
              <a:lnSpc>
                <a:spcPct val="120000"/>
              </a:lnSpc>
            </a:pPr>
            <a:r>
              <a:rPr sz="1200" b="0">
                <a:solidFill>
                  <a:srgbClr val="0B2545"/>
                </a:solidFill>
                <a:latin typeface="Calibri"/>
              </a:rPr>
              <a:t>Dua, D., &amp; Graff, C. (2019). Iris Data Set. UCI Machine Learning Repository. https://archive.ics.uci.edu/ml/datasets/iris</a:t>
            </a:r>
          </a:p>
        </p:txBody>
      </p:sp>
      <p:sp>
        <p:nvSpPr>
          <p:cNvPr id="20" name="Rectangle 19"/>
          <p:cNvSpPr/>
          <p:nvPr/>
        </p:nvSpPr>
        <p:spPr>
          <a:xfrm>
            <a:off x="566928" y="4727448"/>
            <a:ext cx="274320" cy="27432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54880"/>
            <a:ext cx="274320" cy="274320"/>
          </a:xfrm>
          <a:prstGeom prst="rect">
            <a:avLst/>
          </a:prstGeom>
          <a:noFill/>
        </p:spPr>
        <p:txBody>
          <a:bodyPr wrap="square" lIns="0" rIns="0" tIns="0" bIns="0">
            <a:spAutoFit/>
          </a:bodyPr>
          <a:lstStyle/>
          <a:p>
            <a:pPr algn="ctr">
              <a:lnSpc>
                <a:spcPct val="110000"/>
              </a:lnSpc>
            </a:pPr>
            <a:r>
              <a:rPr sz="1100" b="1">
                <a:solidFill>
                  <a:srgbClr val="FFFFFF"/>
                </a:solidFill>
                <a:latin typeface="Calibri"/>
              </a:rPr>
              <a:t>6</a:t>
            </a:r>
          </a:p>
        </p:txBody>
      </p:sp>
      <p:sp>
        <p:nvSpPr>
          <p:cNvPr id="22" name="TextBox 21"/>
          <p:cNvSpPr txBox="1"/>
          <p:nvPr/>
        </p:nvSpPr>
        <p:spPr>
          <a:xfrm>
            <a:off x="1024128" y="4727448"/>
            <a:ext cx="10515600" cy="566928"/>
          </a:xfrm>
          <a:prstGeom prst="rect">
            <a:avLst/>
          </a:prstGeom>
          <a:noFill/>
        </p:spPr>
        <p:txBody>
          <a:bodyPr wrap="square" lIns="0" rIns="0" tIns="0" bIns="0">
            <a:spAutoFit/>
          </a:bodyPr>
          <a:lstStyle/>
          <a:p>
            <a:pPr algn="l">
              <a:lnSpc>
                <a:spcPct val="120000"/>
              </a:lnSpc>
            </a:pPr>
            <a:r>
              <a:rPr sz="1200" b="0">
                <a:solidFill>
                  <a:srgbClr val="0B2545"/>
                </a:solidFill>
                <a:latin typeface="Calibri"/>
              </a:rPr>
              <a:t>Haykin, S. (2009). Neural Networks and Learning Machines (3rd ed.). Pearson Education.</a:t>
            </a:r>
          </a:p>
        </p:txBody>
      </p:sp>
      <p:sp>
        <p:nvSpPr>
          <p:cNvPr id="23" name="Rectangle 22"/>
          <p:cNvSpPr/>
          <p:nvPr/>
        </p:nvSpPr>
        <p:spPr>
          <a:xfrm>
            <a:off x="566928" y="5376672"/>
            <a:ext cx="274320" cy="27432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5404104"/>
            <a:ext cx="274320" cy="274320"/>
          </a:xfrm>
          <a:prstGeom prst="rect">
            <a:avLst/>
          </a:prstGeom>
          <a:noFill/>
        </p:spPr>
        <p:txBody>
          <a:bodyPr wrap="square" lIns="0" rIns="0" tIns="0" bIns="0">
            <a:spAutoFit/>
          </a:bodyPr>
          <a:lstStyle/>
          <a:p>
            <a:pPr algn="ctr">
              <a:lnSpc>
                <a:spcPct val="110000"/>
              </a:lnSpc>
            </a:pPr>
            <a:r>
              <a:rPr sz="1100" b="1">
                <a:solidFill>
                  <a:srgbClr val="FFFFFF"/>
                </a:solidFill>
                <a:latin typeface="Calibri"/>
              </a:rPr>
              <a:t>7</a:t>
            </a:r>
          </a:p>
        </p:txBody>
      </p:sp>
      <p:sp>
        <p:nvSpPr>
          <p:cNvPr id="25" name="TextBox 24"/>
          <p:cNvSpPr txBox="1"/>
          <p:nvPr/>
        </p:nvSpPr>
        <p:spPr>
          <a:xfrm>
            <a:off x="1024128" y="5376672"/>
            <a:ext cx="10515600" cy="566928"/>
          </a:xfrm>
          <a:prstGeom prst="rect">
            <a:avLst/>
          </a:prstGeom>
          <a:noFill/>
        </p:spPr>
        <p:txBody>
          <a:bodyPr wrap="square" lIns="0" rIns="0" tIns="0" bIns="0">
            <a:spAutoFit/>
          </a:bodyPr>
          <a:lstStyle/>
          <a:p>
            <a:pPr algn="l">
              <a:lnSpc>
                <a:spcPct val="120000"/>
              </a:lnSpc>
            </a:pPr>
            <a:r>
              <a:rPr sz="1200" b="0">
                <a:solidFill>
                  <a:srgbClr val="0B2545"/>
                </a:solidFill>
                <a:latin typeface="Calibri"/>
              </a:rPr>
              <a:t>Goodfellow, I., Bengio, Y., &amp; Courville, A. (2016). Deep Learning. MIT Press. Bab 6: Deep Feedforward Networks.</a:t>
            </a:r>
          </a:p>
        </p:txBody>
      </p:sp>
      <p:sp>
        <p:nvSpPr>
          <p:cNvPr id="26" name="TextBox 25"/>
          <p:cNvSpPr txBox="1"/>
          <p:nvPr/>
        </p:nvSpPr>
        <p:spPr>
          <a:xfrm>
            <a:off x="566928" y="6355080"/>
            <a:ext cx="7315200" cy="274320"/>
          </a:xfrm>
          <a:prstGeom prst="rect">
            <a:avLst/>
          </a:prstGeom>
          <a:noFill/>
        </p:spPr>
        <p:txBody>
          <a:bodyPr wrap="square" lIns="0" rIns="0" tIns="0" bIns="0">
            <a:spAutoFit/>
          </a:bodyPr>
          <a:lstStyle/>
          <a:p>
            <a:pPr algn="l">
              <a:lnSpc>
                <a:spcPct val="110000"/>
              </a:lnSpc>
            </a:pPr>
            <a:r>
              <a:rPr sz="1000" b="0">
                <a:solidFill>
                  <a:srgbClr val="5F6368"/>
                </a:solidFill>
                <a:latin typeface="Calibri"/>
              </a:rPr>
              <a:t>Assignment 1 - Single Layer Perceptron</a:t>
            </a:r>
          </a:p>
        </p:txBody>
      </p:sp>
      <p:sp>
        <p:nvSpPr>
          <p:cNvPr id="27" name="TextBox 26"/>
          <p:cNvSpPr txBox="1"/>
          <p:nvPr/>
        </p:nvSpPr>
        <p:spPr>
          <a:xfrm>
            <a:off x="10332720" y="6355080"/>
            <a:ext cx="1280160" cy="274320"/>
          </a:xfrm>
          <a:prstGeom prst="rect">
            <a:avLst/>
          </a:prstGeom>
          <a:noFill/>
        </p:spPr>
        <p:txBody>
          <a:bodyPr wrap="square" lIns="0" rIns="0" tIns="0" bIns="0">
            <a:spAutoFit/>
          </a:bodyPr>
          <a:lstStyle/>
          <a:p>
            <a:pPr algn="r">
              <a:lnSpc>
                <a:spcPct val="110000"/>
              </a:lnSpc>
            </a:pPr>
            <a:r>
              <a:rPr sz="1000" b="0">
                <a:solidFill>
                  <a:srgbClr val="5F6368"/>
                </a:solidFill>
                <a:latin typeface="Calibri"/>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